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60" r:id="rId5"/>
    <p:sldId id="259" r:id="rId6"/>
    <p:sldId id="264" r:id="rId7"/>
    <p:sldId id="262" r:id="rId8"/>
    <p:sldId id="263" r:id="rId9"/>
  </p:sldIdLst>
  <p:sldSz cx="14630400" cy="8229600"/>
  <p:notesSz cx="8229600" cy="14630400"/>
  <p:embeddedFontLst>
    <p:embeddedFont>
      <p:font typeface="Arial Rounded MT Bold" panose="020F0704030504030204" pitchFamily="34" charset="0"/>
      <p:regular r:id="rId11"/>
    </p:embeddedFont>
    <p:embeddedFont>
      <p:font typeface="Playfair Display Semi Bold" panose="020B0604020202020204" charset="0"/>
      <p:regular r:id="rId12"/>
    </p:embeddedFont>
    <p:embeddedFont>
      <p:font typeface="Public Sans"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AF6"/>
    <a:srgbClr val="EEE8E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67" d="100"/>
          <a:sy n="67" d="100"/>
        </p:scale>
        <p:origin x="7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6082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is a powerful automation toll which helps it’s users to connect apps, databases and ai models without using extensive coding. So any person who is not from coding background can also use it for their assistance . n8n connects the form to the sheet, adds smart rules in between, and turns expense tracking from a 5-day process into a 5-second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you ever noticed how submitting and approving expenses in companies can be slow and </a:t>
            </a:r>
            <a:r>
              <a:rPr lang="en-US" dirty="0" err="1"/>
              <a:t>confusing?That’s</a:t>
            </a:r>
            <a:r>
              <a:rPr lang="en-US" dirty="0"/>
              <a:t> exactly the problem we tried to solve through our project.” This slide explains why change was needed in the expense management </a:t>
            </a:r>
            <a:r>
              <a:rPr lang="en-US" dirty="0" err="1"/>
              <a:t>system.Earlier</a:t>
            </a:r>
            <a:r>
              <a:rPr lang="en-US" dirty="0"/>
              <a:t>, the process was completely manual. Employees used to submit their expenses through emails, and all the data was stored in different spreadsheets. Because of this, there was no single place where all the information was </a:t>
            </a:r>
            <a:r>
              <a:rPr lang="en-US" dirty="0" err="1"/>
              <a:t>available.Due</a:t>
            </a:r>
            <a:r>
              <a:rPr lang="en-US" dirty="0"/>
              <a:t> to this old system, several problems </a:t>
            </a:r>
            <a:r>
              <a:rPr lang="en-US" dirty="0" err="1"/>
              <a:t>occurred.First</a:t>
            </a:r>
            <a:r>
              <a:rPr lang="en-US" dirty="0"/>
              <a:t>, there were approval delays. Since requests were sent through emails, they often stayed in inboxes for days before getting </a:t>
            </a:r>
            <a:r>
              <a:rPr lang="en-US" dirty="0" err="1"/>
              <a:t>approved.Second</a:t>
            </a:r>
            <a:r>
              <a:rPr lang="en-US" dirty="0"/>
              <a:t>, there were human errors. Because everything was done manually, mistakes in data entry were very </a:t>
            </a:r>
            <a:r>
              <a:rPr lang="en-US" dirty="0" err="1"/>
              <a:t>common.Third</a:t>
            </a:r>
            <a:r>
              <a:rPr lang="en-US" dirty="0"/>
              <a:t>, there were missing records. As there was no centralized system, it was difficult to track or maintain proper </a:t>
            </a:r>
            <a:r>
              <a:rPr lang="en-US" dirty="0" err="1"/>
              <a:t>records.And</a:t>
            </a:r>
            <a:r>
              <a:rPr lang="en-US" dirty="0"/>
              <a:t> lastly, there was zero visibility. There was no real-time update, so employees and managers couldn’t track the status of </a:t>
            </a:r>
            <a:r>
              <a:rPr lang="en-US" dirty="0" err="1"/>
              <a:t>expenses.Because</a:t>
            </a:r>
            <a:r>
              <a:rPr lang="en-US" dirty="0"/>
              <a:t> of all these issues, the overall system became inefficient and time-consuming, which also affected business costs and </a:t>
            </a:r>
            <a:r>
              <a:rPr lang="en-US" dirty="0" err="1"/>
              <a:t>trust.So</a:t>
            </a:r>
            <a:r>
              <a:rPr lang="en-US" dirty="0"/>
              <a:t>, this clearly shows the need for a better, automated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automation solves all the problems we discussed </a:t>
            </a:r>
            <a:r>
              <a:rPr lang="en-US" dirty="0" err="1"/>
              <a:t>earlier.Instead</a:t>
            </a:r>
            <a:r>
              <a:rPr lang="en-US" dirty="0"/>
              <a:t> of using emails and scattered spreadsheets, we created a single, centralized system that handles everything automatically—from submission to </a:t>
            </a:r>
            <a:r>
              <a:rPr lang="en-US" dirty="0" err="1"/>
              <a:t>approval.First</a:t>
            </a:r>
            <a:r>
              <a:rPr lang="en-US" dirty="0"/>
              <a:t> step is </a:t>
            </a:r>
            <a:r>
              <a:rPr lang="en-US" dirty="0" err="1"/>
              <a:t>Submit.Employees</a:t>
            </a:r>
            <a:r>
              <a:rPr lang="en-US" dirty="0"/>
              <a:t> fill a structured Google Form to enter their expense details. This ensures that all data is collected in a proper and uniform </a:t>
            </a:r>
            <a:r>
              <a:rPr lang="en-US" dirty="0" err="1"/>
              <a:t>format.Next</a:t>
            </a:r>
            <a:r>
              <a:rPr lang="en-US" dirty="0"/>
              <a:t> is </a:t>
            </a:r>
            <a:r>
              <a:rPr lang="en-US" dirty="0" err="1"/>
              <a:t>Store.As</a:t>
            </a:r>
            <a:r>
              <a:rPr lang="en-US" dirty="0"/>
              <a:t> soon as the form is submitted, the data is automatically stored in Google Sheets. So, there is no need for manual entry, and all records are saved in one </a:t>
            </a:r>
            <a:r>
              <a:rPr lang="en-US" dirty="0" err="1"/>
              <a:t>place.Then</a:t>
            </a:r>
            <a:r>
              <a:rPr lang="en-US" dirty="0"/>
              <a:t> comes </a:t>
            </a:r>
            <a:r>
              <a:rPr lang="en-US" dirty="0" err="1"/>
              <a:t>Trigger.Here</a:t>
            </a:r>
            <a:r>
              <a:rPr lang="en-US" dirty="0"/>
              <a:t>, we use a tool called n8n, which detects every new entry in real time. This acts like a bridge between different steps and starts the automation process </a:t>
            </a:r>
            <a:r>
              <a:rPr lang="en-US" dirty="0" err="1"/>
              <a:t>instantly.Finally</a:t>
            </a:r>
            <a:r>
              <a:rPr lang="en-US" dirty="0"/>
              <a:t>, </a:t>
            </a:r>
            <a:r>
              <a:rPr lang="en-US" dirty="0" err="1"/>
              <a:t>Notify.Once</a:t>
            </a:r>
            <a:r>
              <a:rPr lang="en-US" dirty="0"/>
              <a:t> the entry is detected, automated email alerts are sent immediately to the concerned person for approval. This removes delays and keeps everyone </a:t>
            </a:r>
            <a:r>
              <a:rPr lang="en-US" dirty="0" err="1"/>
              <a:t>updated.Because</a:t>
            </a:r>
            <a:r>
              <a:rPr lang="en-US" dirty="0"/>
              <a:t> of this system, the process becomes fast, accurate, and real-time, eliminating human errors and saving a lot of </a:t>
            </a:r>
            <a:r>
              <a:rPr lang="en-US" dirty="0" err="1"/>
              <a:t>time.So</a:t>
            </a:r>
            <a:r>
              <a:rPr lang="en-US" dirty="0"/>
              <a:t> overall, automation makes the entire expense tracking system more efficient and reliable.”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is moving from manual ,error prone work to a system that is fast, accurate and </a:t>
            </a:r>
            <a:r>
              <a:rPr lang="en-US" dirty="0" err="1"/>
              <a:t>scalable.Benefits</a:t>
            </a:r>
            <a:r>
              <a:rPr lang="en-US" dirty="0"/>
              <a:t>-Saves time by eliminating manual data entry and then waiting days for approval instead now an employee just submits a google form and n8n instantly picks it up and processes it and logs it into google sheets. Reduces error- the process has become accurate and there are no Chances of error and human bias as it is completely automated Improves transparency- as anybody who has the access can know who spent , how much he spent and on what things the person spent on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AF6"/>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www.konstruktionspraxis.vogel.de/digitaler-stress-als-folge-der-digitalisierung-a-778079/" TargetMode="Externa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hyperlink" Target="https://deeksha29.app.n8n.cloud/workflow/nt9UtlyqBEie7Lqf" TargetMode="External"/><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5360" y="0"/>
            <a:ext cx="6035040" cy="8229600"/>
          </a:xfrm>
          <a:prstGeom prst="rect">
            <a:avLst/>
          </a:prstGeom>
        </p:spPr>
      </p:pic>
      <p:sp>
        <p:nvSpPr>
          <p:cNvPr id="3" name="Text 0"/>
          <p:cNvSpPr/>
          <p:nvPr/>
        </p:nvSpPr>
        <p:spPr>
          <a:xfrm>
            <a:off x="793789" y="665210"/>
            <a:ext cx="7556421" cy="1417558"/>
          </a:xfrm>
          <a:prstGeom prst="rect">
            <a:avLst/>
          </a:prstGeom>
          <a:noFill/>
          <a:ln/>
        </p:spPr>
        <p:txBody>
          <a:bodyPr wrap="square" lIns="0" tIns="0" rIns="0" bIns="0" rtlCol="0" anchor="t"/>
          <a:lstStyle/>
          <a:p>
            <a:pPr marL="0" indent="0" algn="l">
              <a:lnSpc>
                <a:spcPts val="5550"/>
              </a:lnSpc>
              <a:buNone/>
            </a:pPr>
            <a:r>
              <a:rPr lang="en-US" sz="5400" dirty="0">
                <a:solidFill>
                  <a:srgbClr val="4B6981"/>
                </a:solidFill>
                <a:latin typeface="Playfair Display Semi Bold" pitchFamily="34" charset="0"/>
                <a:ea typeface="Playfair Display Semi Bold" pitchFamily="34" charset="-122"/>
                <a:cs typeface="Playfair Display Semi Bold" pitchFamily="34" charset="-120"/>
              </a:rPr>
              <a:t>Smart Expense Tracker Automation</a:t>
            </a:r>
            <a:endParaRPr lang="en-US" sz="5400" dirty="0"/>
          </a:p>
        </p:txBody>
      </p:sp>
      <p:sp>
        <p:nvSpPr>
          <p:cNvPr id="4" name="Text 1"/>
          <p:cNvSpPr/>
          <p:nvPr/>
        </p:nvSpPr>
        <p:spPr>
          <a:xfrm>
            <a:off x="793790" y="2522138"/>
            <a:ext cx="7556421" cy="362903"/>
          </a:xfrm>
          <a:prstGeom prst="rect">
            <a:avLst/>
          </a:prstGeom>
          <a:noFill/>
          <a:ln/>
        </p:spPr>
        <p:txBody>
          <a:bodyPr wrap="none" lIns="0" tIns="0" rIns="0" bIns="0" rtlCol="0" anchor="t"/>
          <a:lstStyle/>
          <a:p>
            <a:pPr marL="0" indent="0" algn="l">
              <a:lnSpc>
                <a:spcPts val="2850"/>
              </a:lnSpc>
              <a:buNone/>
            </a:pPr>
            <a:r>
              <a:rPr lang="en-US" sz="1750" i="1" dirty="0">
                <a:solidFill>
                  <a:srgbClr val="6F655D"/>
                </a:solidFill>
                <a:latin typeface="Public Sans" pitchFamily="34" charset="0"/>
                <a:ea typeface="Public Sans" pitchFamily="34" charset="-122"/>
                <a:cs typeface="Public Sans" pitchFamily="34" charset="-120"/>
              </a:rPr>
              <a:t>n8n + Google Forms + Google Sheets</a:t>
            </a:r>
            <a:endParaRPr lang="en-US" sz="1750" dirty="0"/>
          </a:p>
        </p:txBody>
      </p:sp>
      <p:sp>
        <p:nvSpPr>
          <p:cNvPr id="5" name="Text 2"/>
          <p:cNvSpPr/>
          <p:nvPr/>
        </p:nvSpPr>
        <p:spPr>
          <a:xfrm>
            <a:off x="793790" y="2960646"/>
            <a:ext cx="7556421" cy="362903"/>
          </a:xfrm>
          <a:prstGeom prst="rect">
            <a:avLst/>
          </a:prstGeom>
          <a:noFill/>
          <a:ln/>
        </p:spPr>
        <p:txBody>
          <a:bodyPr wrap="none" lIns="0" tIns="0" rIns="0" bIns="0" rtlCol="0" anchor="t"/>
          <a:lstStyle/>
          <a:p>
            <a:pPr marL="0" indent="0" algn="l">
              <a:lnSpc>
                <a:spcPts val="2850"/>
              </a:lnSpc>
              <a:buNone/>
            </a:pPr>
            <a:r>
              <a:rPr lang="en-US" sz="2400" dirty="0">
                <a:solidFill>
                  <a:srgbClr val="6F655D"/>
                </a:solidFill>
                <a:latin typeface="Public Sans" pitchFamily="34" charset="0"/>
                <a:ea typeface="Public Sans" pitchFamily="34" charset="-122"/>
                <a:cs typeface="Public Sans" pitchFamily="34" charset="-120"/>
              </a:rPr>
              <a:t>Transforming Manual Finance into Smart Automation</a:t>
            </a:r>
            <a:endParaRPr lang="en-US" sz="2400" dirty="0"/>
          </a:p>
        </p:txBody>
      </p:sp>
      <p:sp>
        <p:nvSpPr>
          <p:cNvPr id="10" name="TextBox 9">
            <a:extLst>
              <a:ext uri="{FF2B5EF4-FFF2-40B4-BE49-F238E27FC236}">
                <a16:creationId xmlns:a16="http://schemas.microsoft.com/office/drawing/2014/main" id="{4288F016-E591-FB79-18F5-EB31A2F973F4}"/>
              </a:ext>
            </a:extLst>
          </p:cNvPr>
          <p:cNvSpPr txBox="1"/>
          <p:nvPr/>
        </p:nvSpPr>
        <p:spPr>
          <a:xfrm>
            <a:off x="1559169" y="4783015"/>
            <a:ext cx="3845169" cy="1631216"/>
          </a:xfrm>
          <a:prstGeom prst="rect">
            <a:avLst/>
          </a:prstGeom>
          <a:noFill/>
        </p:spPr>
        <p:txBody>
          <a:bodyPr wrap="square" rtlCol="0">
            <a:spAutoFit/>
          </a:bodyPr>
          <a:lstStyle/>
          <a:p>
            <a:r>
              <a:rPr lang="en-IN" sz="2000" b="1" dirty="0">
                <a:latin typeface="Arial Rounded MT Bold" panose="020F0704030504030204" pitchFamily="34" charset="0"/>
              </a:rPr>
              <a:t>Submitted by:-</a:t>
            </a:r>
          </a:p>
          <a:p>
            <a:r>
              <a:rPr lang="en-IN" sz="2000" b="1" dirty="0">
                <a:latin typeface="Arial Rounded MT Bold" panose="020F0704030504030204" pitchFamily="34" charset="0"/>
              </a:rPr>
              <a:t>Bhavika (2520982541)</a:t>
            </a:r>
          </a:p>
          <a:p>
            <a:r>
              <a:rPr lang="en-IN" sz="2000" b="1" dirty="0">
                <a:latin typeface="Arial Rounded MT Bold" panose="020F0704030504030204" pitchFamily="34" charset="0"/>
              </a:rPr>
              <a:t>Deeksha (2520982551)</a:t>
            </a:r>
          </a:p>
          <a:p>
            <a:r>
              <a:rPr lang="en-IN" sz="2000" b="1" dirty="0">
                <a:latin typeface="Arial Rounded MT Bold" panose="020F0704030504030204" pitchFamily="34" charset="0"/>
              </a:rPr>
              <a:t>Udita Bansal (2520982749)</a:t>
            </a:r>
          </a:p>
          <a:p>
            <a:r>
              <a:rPr lang="en-IN" sz="2000" b="1" dirty="0">
                <a:latin typeface="Arial Rounded MT Bold" panose="020F0704030504030204" pitchFamily="34" charset="0"/>
              </a:rPr>
              <a:t>Prachi </a:t>
            </a:r>
            <a:r>
              <a:rPr lang="en-IN" sz="2000" b="1">
                <a:latin typeface="Arial Rounded MT Bold" panose="020F0704030504030204" pitchFamily="34" charset="0"/>
              </a:rPr>
              <a:t>( 2520982677)</a:t>
            </a:r>
            <a:endParaRPr lang="en-IN" sz="2000" b="1" dirty="0">
              <a:latin typeface="Arial Rounded MT Bold" panose="020F07040305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150610" y="499766"/>
            <a:ext cx="5145643" cy="564713"/>
          </a:xfrm>
          <a:prstGeom prst="rect">
            <a:avLst/>
          </a:prstGeom>
          <a:noFill/>
          <a:ln/>
        </p:spPr>
        <p:txBody>
          <a:bodyPr wrap="none" lIns="0" tIns="0" rIns="0" bIns="0" rtlCol="0" anchor="t"/>
          <a:lstStyle/>
          <a:p>
            <a:pPr marL="0" indent="0" algn="l">
              <a:lnSpc>
                <a:spcPts val="4400"/>
              </a:lnSpc>
              <a:buNone/>
            </a:pPr>
            <a:r>
              <a:rPr lang="en-US" sz="4400" b="1" dirty="0">
                <a:solidFill>
                  <a:srgbClr val="4B6981"/>
                </a:solidFill>
                <a:latin typeface="Playfair Display Semi Bold" pitchFamily="34" charset="0"/>
                <a:ea typeface="Playfair Display Semi Bold" pitchFamily="34" charset="-122"/>
                <a:cs typeface="Playfair Display Semi Bold" pitchFamily="34" charset="-120"/>
              </a:rPr>
              <a:t>Why Change Was Needed</a:t>
            </a:r>
            <a:endParaRPr lang="en-US" sz="4400" b="1" dirty="0"/>
          </a:p>
        </p:txBody>
      </p:sp>
      <p:sp>
        <p:nvSpPr>
          <p:cNvPr id="4" name="Text 1"/>
          <p:cNvSpPr/>
          <p:nvPr/>
        </p:nvSpPr>
        <p:spPr>
          <a:xfrm>
            <a:off x="6118979" y="1465710"/>
            <a:ext cx="2259330" cy="282416"/>
          </a:xfrm>
          <a:prstGeom prst="rect">
            <a:avLst/>
          </a:prstGeom>
          <a:noFill/>
          <a:ln/>
        </p:spPr>
        <p:txBody>
          <a:bodyPr wrap="none" lIns="0" tIns="0" rIns="0" bIns="0" rtlCol="0" anchor="t"/>
          <a:lstStyle/>
          <a:p>
            <a:pPr marL="0" indent="0" algn="l">
              <a:lnSpc>
                <a:spcPts val="2200"/>
              </a:lnSpc>
              <a:buNone/>
            </a:pPr>
            <a:r>
              <a:rPr lang="en-US" sz="2800" dirty="0">
                <a:solidFill>
                  <a:srgbClr val="4B6981"/>
                </a:solidFill>
                <a:latin typeface="Playfair Display Semi Bold" pitchFamily="34" charset="0"/>
                <a:ea typeface="Playfair Display Semi Bold" pitchFamily="34" charset="-122"/>
                <a:cs typeface="Playfair Display Semi Bold" pitchFamily="34" charset="-120"/>
              </a:rPr>
              <a:t>The Old Way</a:t>
            </a:r>
            <a:endParaRPr lang="en-US" sz="2800" dirty="0"/>
          </a:p>
        </p:txBody>
      </p:sp>
      <p:sp>
        <p:nvSpPr>
          <p:cNvPr id="5" name="Text 2"/>
          <p:cNvSpPr/>
          <p:nvPr/>
        </p:nvSpPr>
        <p:spPr>
          <a:xfrm>
            <a:off x="6118979" y="1935123"/>
            <a:ext cx="3718917" cy="1687308"/>
          </a:xfrm>
          <a:prstGeom prst="rect">
            <a:avLst/>
          </a:prstGeom>
          <a:noFill/>
          <a:ln/>
        </p:spPr>
        <p:txBody>
          <a:bodyPr wrap="square" lIns="0" tIns="0" rIns="0" bIns="0" rtlCol="0" anchor="t"/>
          <a:lstStyle/>
          <a:p>
            <a:pPr marL="0" indent="0" algn="l">
              <a:lnSpc>
                <a:spcPts val="2000"/>
              </a:lnSpc>
              <a:buNone/>
            </a:pPr>
            <a:r>
              <a:rPr lang="en-US" sz="2000" dirty="0">
                <a:solidFill>
                  <a:srgbClr val="6F655D"/>
                </a:solidFill>
                <a:ea typeface="Public Sans" pitchFamily="34" charset="-122"/>
                <a:cs typeface="Public Sans" pitchFamily="34" charset="-120"/>
              </a:rPr>
              <a:t>Employees submitted expenses via scattered emails. Data lived in disconnected spreadsheets, and approvals wound through slow, manual chains — with no single source of truth.</a:t>
            </a:r>
            <a:endParaRPr lang="en-US" sz="2000" dirty="0"/>
          </a:p>
        </p:txBody>
      </p:sp>
      <p:sp>
        <p:nvSpPr>
          <p:cNvPr id="6" name="Shape 3"/>
          <p:cNvSpPr/>
          <p:nvPr/>
        </p:nvSpPr>
        <p:spPr>
          <a:xfrm>
            <a:off x="10286524" y="1526738"/>
            <a:ext cx="3718917" cy="1108591"/>
          </a:xfrm>
          <a:prstGeom prst="roundRect">
            <a:avLst>
              <a:gd name="adj" fmla="val 9898"/>
            </a:avLst>
          </a:prstGeom>
          <a:solidFill>
            <a:srgbClr val="FFFAF6"/>
          </a:solidFill>
          <a:ln w="22860">
            <a:solidFill>
              <a:srgbClr val="E1C2C2"/>
            </a:solidFill>
            <a:prstDash val="solid"/>
          </a:ln>
          <a:effectLst>
            <a:outerShdw dist="22860" dir="2700000" algn="bl" rotWithShape="0">
              <a:srgbClr val="E1C2C2">
                <a:alpha val="100000"/>
              </a:srgbClr>
            </a:outerShdw>
          </a:effectLst>
        </p:spPr>
      </p:sp>
      <p:sp>
        <p:nvSpPr>
          <p:cNvPr id="7" name="Shape 4"/>
          <p:cNvSpPr/>
          <p:nvPr/>
        </p:nvSpPr>
        <p:spPr>
          <a:xfrm>
            <a:off x="10263664" y="1526738"/>
            <a:ext cx="91440" cy="1108591"/>
          </a:xfrm>
          <a:prstGeom prst="roundRect">
            <a:avLst>
              <a:gd name="adj" fmla="val 83023"/>
            </a:avLst>
          </a:prstGeom>
          <a:solidFill>
            <a:srgbClr val="E1C2C2"/>
          </a:solidFill>
          <a:ln/>
        </p:spPr>
      </p:sp>
      <p:sp>
        <p:nvSpPr>
          <p:cNvPr id="8" name="Text 5"/>
          <p:cNvSpPr/>
          <p:nvPr/>
        </p:nvSpPr>
        <p:spPr>
          <a:xfrm>
            <a:off x="10558701" y="1730335"/>
            <a:ext cx="2259330" cy="297656"/>
          </a:xfrm>
          <a:prstGeom prst="rect">
            <a:avLst/>
          </a:prstGeom>
          <a:noFill/>
          <a:ln/>
        </p:spPr>
        <p:txBody>
          <a:bodyPr wrap="none" lIns="0" tIns="0" rIns="0" bIns="0" rtlCol="0" anchor="t"/>
          <a:lstStyle/>
          <a:p>
            <a:pPr marL="0" indent="0" algn="l">
              <a:lnSpc>
                <a:spcPts val="2200"/>
              </a:lnSpc>
              <a:buNone/>
            </a:pPr>
            <a:r>
              <a:rPr lang="en-US" sz="2000" dirty="0">
                <a:solidFill>
                  <a:srgbClr val="000000"/>
                </a:solidFill>
                <a:latin typeface="Playfair Display Semi Bold" pitchFamily="34" charset="0"/>
                <a:ea typeface="Playfair Display Semi Bold" pitchFamily="34" charset="-122"/>
                <a:cs typeface="Playfair Display Semi Bold" pitchFamily="34" charset="-120"/>
              </a:rPr>
              <a:t>❌</a:t>
            </a:r>
            <a:r>
              <a:rPr lang="en-US" sz="2000" dirty="0">
                <a:solidFill>
                  <a:srgbClr val="6F655D"/>
                </a:solidFill>
                <a:latin typeface="Playfair Display Semi Bold" pitchFamily="34" charset="0"/>
                <a:ea typeface="Playfair Display Semi Bold" pitchFamily="34" charset="-122"/>
                <a:cs typeface="Playfair Display Semi Bold" pitchFamily="34" charset="-120"/>
              </a:rPr>
              <a:t> Approval Delays</a:t>
            </a:r>
            <a:endParaRPr lang="en-US" sz="2000" dirty="0"/>
          </a:p>
        </p:txBody>
      </p:sp>
      <p:sp>
        <p:nvSpPr>
          <p:cNvPr id="9" name="Text 6"/>
          <p:cNvSpPr/>
          <p:nvPr/>
        </p:nvSpPr>
        <p:spPr>
          <a:xfrm>
            <a:off x="10558701" y="2171938"/>
            <a:ext cx="3243143" cy="259794"/>
          </a:xfrm>
          <a:prstGeom prst="rect">
            <a:avLst/>
          </a:prstGeom>
          <a:noFill/>
          <a:ln/>
        </p:spPr>
        <p:txBody>
          <a:bodyPr wrap="none" lIns="0" tIns="0" rIns="0" bIns="0" rtlCol="0" anchor="t"/>
          <a:lstStyle/>
          <a:p>
            <a:pPr marL="0" indent="0" algn="l">
              <a:lnSpc>
                <a:spcPts val="2000"/>
              </a:lnSpc>
              <a:buNone/>
            </a:pPr>
            <a:r>
              <a:rPr lang="en-US" sz="1600" dirty="0">
                <a:solidFill>
                  <a:srgbClr val="6F655D"/>
                </a:solidFill>
                <a:latin typeface="Public Sans" pitchFamily="34" charset="0"/>
                <a:ea typeface="Public Sans" pitchFamily="34" charset="-122"/>
                <a:cs typeface="Public Sans" pitchFamily="34" charset="-120"/>
              </a:rPr>
              <a:t>Requests sat in inboxes for days</a:t>
            </a:r>
            <a:endParaRPr lang="en-US" sz="1600" dirty="0"/>
          </a:p>
        </p:txBody>
      </p:sp>
      <p:sp>
        <p:nvSpPr>
          <p:cNvPr id="10" name="Shape 7"/>
          <p:cNvSpPr/>
          <p:nvPr/>
        </p:nvSpPr>
        <p:spPr>
          <a:xfrm>
            <a:off x="10286524" y="2779276"/>
            <a:ext cx="3718917" cy="1108591"/>
          </a:xfrm>
          <a:prstGeom prst="roundRect">
            <a:avLst>
              <a:gd name="adj" fmla="val 9898"/>
            </a:avLst>
          </a:prstGeom>
          <a:solidFill>
            <a:srgbClr val="FFFAF6"/>
          </a:solidFill>
          <a:ln w="22860">
            <a:solidFill>
              <a:srgbClr val="CCC4EC"/>
            </a:solidFill>
            <a:prstDash val="solid"/>
          </a:ln>
          <a:effectLst>
            <a:outerShdw dist="22860" dir="2700000" algn="bl" rotWithShape="0">
              <a:srgbClr val="CCC4EC">
                <a:alpha val="100000"/>
              </a:srgbClr>
            </a:outerShdw>
          </a:effectLst>
        </p:spPr>
      </p:sp>
      <p:sp>
        <p:nvSpPr>
          <p:cNvPr id="11" name="Shape 8"/>
          <p:cNvSpPr/>
          <p:nvPr/>
        </p:nvSpPr>
        <p:spPr>
          <a:xfrm>
            <a:off x="10263664" y="2779276"/>
            <a:ext cx="91440" cy="1108591"/>
          </a:xfrm>
          <a:prstGeom prst="roundRect">
            <a:avLst>
              <a:gd name="adj" fmla="val 83023"/>
            </a:avLst>
          </a:prstGeom>
          <a:solidFill>
            <a:srgbClr val="CCC4EC"/>
          </a:solidFill>
          <a:ln/>
        </p:spPr>
      </p:sp>
      <p:sp>
        <p:nvSpPr>
          <p:cNvPr id="12" name="Text 9"/>
          <p:cNvSpPr/>
          <p:nvPr/>
        </p:nvSpPr>
        <p:spPr>
          <a:xfrm>
            <a:off x="10558701" y="2982873"/>
            <a:ext cx="2259330" cy="297656"/>
          </a:xfrm>
          <a:prstGeom prst="rect">
            <a:avLst/>
          </a:prstGeom>
          <a:noFill/>
          <a:ln/>
        </p:spPr>
        <p:txBody>
          <a:bodyPr wrap="none" lIns="0" tIns="0" rIns="0" bIns="0" rtlCol="0" anchor="t"/>
          <a:lstStyle/>
          <a:p>
            <a:pPr marL="0" indent="0" algn="l">
              <a:lnSpc>
                <a:spcPts val="2200"/>
              </a:lnSpc>
              <a:buNone/>
            </a:pPr>
            <a:r>
              <a:rPr lang="en-US" sz="2000" dirty="0">
                <a:solidFill>
                  <a:srgbClr val="000000"/>
                </a:solidFill>
                <a:latin typeface="Playfair Display Semi Bold" pitchFamily="34" charset="0"/>
                <a:ea typeface="Playfair Display Semi Bold" pitchFamily="34" charset="-122"/>
                <a:cs typeface="Playfair Display Semi Bold" pitchFamily="34" charset="-120"/>
              </a:rPr>
              <a:t>❌</a:t>
            </a:r>
            <a:r>
              <a:rPr lang="en-US" sz="2000" dirty="0">
                <a:solidFill>
                  <a:srgbClr val="6F655D"/>
                </a:solidFill>
                <a:latin typeface="Playfair Display Semi Bold" pitchFamily="34" charset="0"/>
                <a:ea typeface="Playfair Display Semi Bold" pitchFamily="34" charset="-122"/>
                <a:cs typeface="Playfair Display Semi Bold" pitchFamily="34" charset="-120"/>
              </a:rPr>
              <a:t> Human Errors</a:t>
            </a:r>
            <a:endParaRPr lang="en-US" sz="2000" dirty="0"/>
          </a:p>
        </p:txBody>
      </p:sp>
      <p:sp>
        <p:nvSpPr>
          <p:cNvPr id="13" name="Text 10"/>
          <p:cNvSpPr/>
          <p:nvPr/>
        </p:nvSpPr>
        <p:spPr>
          <a:xfrm>
            <a:off x="10377964" y="3482661"/>
            <a:ext cx="3243143" cy="259794"/>
          </a:xfrm>
          <a:prstGeom prst="rect">
            <a:avLst/>
          </a:prstGeom>
          <a:noFill/>
          <a:ln/>
        </p:spPr>
        <p:txBody>
          <a:bodyPr wrap="none" lIns="0" tIns="0" rIns="0" bIns="0" rtlCol="0" anchor="t"/>
          <a:lstStyle/>
          <a:p>
            <a:pPr marL="0" indent="0" algn="l">
              <a:lnSpc>
                <a:spcPts val="2000"/>
              </a:lnSpc>
              <a:buNone/>
            </a:pPr>
            <a:r>
              <a:rPr lang="en-US" sz="1600" dirty="0">
                <a:solidFill>
                  <a:srgbClr val="6F655D"/>
                </a:solidFill>
                <a:latin typeface="Public Sans" pitchFamily="34" charset="0"/>
                <a:ea typeface="Public Sans" pitchFamily="34" charset="-122"/>
                <a:cs typeface="Public Sans" pitchFamily="34" charset="-120"/>
              </a:rPr>
              <a:t>Manual entry led to frequent mistakes</a:t>
            </a:r>
            <a:endParaRPr lang="en-US" sz="1600" dirty="0"/>
          </a:p>
        </p:txBody>
      </p:sp>
      <p:sp>
        <p:nvSpPr>
          <p:cNvPr id="14" name="Shape 11"/>
          <p:cNvSpPr/>
          <p:nvPr/>
        </p:nvSpPr>
        <p:spPr>
          <a:xfrm>
            <a:off x="10286524" y="4031813"/>
            <a:ext cx="3718917" cy="1108591"/>
          </a:xfrm>
          <a:prstGeom prst="roundRect">
            <a:avLst>
              <a:gd name="adj" fmla="val 9898"/>
            </a:avLst>
          </a:prstGeom>
          <a:solidFill>
            <a:srgbClr val="FFFAF6"/>
          </a:solidFill>
          <a:ln w="22860">
            <a:solidFill>
              <a:srgbClr val="B4DAE4"/>
            </a:solidFill>
            <a:prstDash val="solid"/>
          </a:ln>
          <a:effectLst>
            <a:outerShdw dist="22860" dir="2700000" algn="bl" rotWithShape="0">
              <a:srgbClr val="B4DAE4">
                <a:alpha val="100000"/>
              </a:srgbClr>
            </a:outerShdw>
          </a:effectLst>
        </p:spPr>
      </p:sp>
      <p:sp>
        <p:nvSpPr>
          <p:cNvPr id="15" name="Shape 12"/>
          <p:cNvSpPr/>
          <p:nvPr/>
        </p:nvSpPr>
        <p:spPr>
          <a:xfrm>
            <a:off x="10263664" y="4031813"/>
            <a:ext cx="91440" cy="1108591"/>
          </a:xfrm>
          <a:prstGeom prst="roundRect">
            <a:avLst>
              <a:gd name="adj" fmla="val 83023"/>
            </a:avLst>
          </a:prstGeom>
          <a:solidFill>
            <a:srgbClr val="B4DAE4"/>
          </a:solidFill>
          <a:ln/>
        </p:spPr>
      </p:sp>
      <p:sp>
        <p:nvSpPr>
          <p:cNvPr id="16" name="Text 13"/>
          <p:cNvSpPr/>
          <p:nvPr/>
        </p:nvSpPr>
        <p:spPr>
          <a:xfrm>
            <a:off x="10558701" y="4235410"/>
            <a:ext cx="2259330" cy="297656"/>
          </a:xfrm>
          <a:prstGeom prst="rect">
            <a:avLst/>
          </a:prstGeom>
          <a:noFill/>
          <a:ln/>
        </p:spPr>
        <p:txBody>
          <a:bodyPr wrap="none" lIns="0" tIns="0" rIns="0" bIns="0" rtlCol="0" anchor="t"/>
          <a:lstStyle/>
          <a:p>
            <a:pPr marL="0" indent="0" algn="l">
              <a:lnSpc>
                <a:spcPts val="2200"/>
              </a:lnSpc>
              <a:buNone/>
            </a:pPr>
            <a:r>
              <a:rPr lang="en-US" sz="2000" dirty="0">
                <a:solidFill>
                  <a:srgbClr val="000000"/>
                </a:solidFill>
                <a:latin typeface="Playfair Display Semi Bold" pitchFamily="34" charset="0"/>
                <a:ea typeface="Playfair Display Semi Bold" pitchFamily="34" charset="-122"/>
                <a:cs typeface="Playfair Display Semi Bold" pitchFamily="34" charset="-120"/>
              </a:rPr>
              <a:t>❌</a:t>
            </a:r>
            <a:r>
              <a:rPr lang="en-US" sz="2000" dirty="0">
                <a:solidFill>
                  <a:srgbClr val="6F655D"/>
                </a:solidFill>
                <a:latin typeface="Playfair Display Semi Bold" pitchFamily="34" charset="0"/>
                <a:ea typeface="Playfair Display Semi Bold" pitchFamily="34" charset="-122"/>
                <a:cs typeface="Playfair Display Semi Bold" pitchFamily="34" charset="-120"/>
              </a:rPr>
              <a:t> Missing Records</a:t>
            </a:r>
            <a:endParaRPr lang="en-US" sz="2000" dirty="0"/>
          </a:p>
        </p:txBody>
      </p:sp>
      <p:sp>
        <p:nvSpPr>
          <p:cNvPr id="17" name="Text 14"/>
          <p:cNvSpPr/>
          <p:nvPr/>
        </p:nvSpPr>
        <p:spPr>
          <a:xfrm>
            <a:off x="10558701" y="4677013"/>
            <a:ext cx="3243143" cy="259794"/>
          </a:xfrm>
          <a:prstGeom prst="rect">
            <a:avLst/>
          </a:prstGeom>
          <a:noFill/>
          <a:ln/>
        </p:spPr>
        <p:txBody>
          <a:bodyPr wrap="none" lIns="0" tIns="0" rIns="0" bIns="0" rtlCol="0" anchor="t"/>
          <a:lstStyle/>
          <a:p>
            <a:pPr marL="0" indent="0" algn="l">
              <a:lnSpc>
                <a:spcPts val="2000"/>
              </a:lnSpc>
              <a:buNone/>
            </a:pPr>
            <a:r>
              <a:rPr lang="en-US" sz="1600" dirty="0">
                <a:solidFill>
                  <a:srgbClr val="6F655D"/>
                </a:solidFill>
                <a:latin typeface="Public Sans" pitchFamily="34" charset="0"/>
                <a:ea typeface="Public Sans" pitchFamily="34" charset="-122"/>
                <a:cs typeface="Public Sans" pitchFamily="34" charset="-120"/>
              </a:rPr>
              <a:t>No centralised audit trail</a:t>
            </a:r>
            <a:endParaRPr lang="en-US" sz="1600" dirty="0"/>
          </a:p>
        </p:txBody>
      </p:sp>
      <p:sp>
        <p:nvSpPr>
          <p:cNvPr id="18" name="Shape 15"/>
          <p:cNvSpPr/>
          <p:nvPr/>
        </p:nvSpPr>
        <p:spPr>
          <a:xfrm>
            <a:off x="10286524" y="5284351"/>
            <a:ext cx="3718917" cy="1108591"/>
          </a:xfrm>
          <a:prstGeom prst="roundRect">
            <a:avLst>
              <a:gd name="adj" fmla="val 9898"/>
            </a:avLst>
          </a:prstGeom>
          <a:solidFill>
            <a:srgbClr val="FFFAF6"/>
          </a:solidFill>
          <a:ln w="22860">
            <a:solidFill>
              <a:srgbClr val="E1C2C2"/>
            </a:solidFill>
            <a:prstDash val="solid"/>
          </a:ln>
          <a:effectLst>
            <a:outerShdw dist="22860" dir="2700000" algn="bl" rotWithShape="0">
              <a:srgbClr val="E1C2C2">
                <a:alpha val="100000"/>
              </a:srgbClr>
            </a:outerShdw>
          </a:effectLst>
        </p:spPr>
      </p:sp>
      <p:sp>
        <p:nvSpPr>
          <p:cNvPr id="19" name="Shape 16"/>
          <p:cNvSpPr/>
          <p:nvPr/>
        </p:nvSpPr>
        <p:spPr>
          <a:xfrm>
            <a:off x="10263664" y="5284351"/>
            <a:ext cx="91440" cy="1108591"/>
          </a:xfrm>
          <a:prstGeom prst="roundRect">
            <a:avLst>
              <a:gd name="adj" fmla="val 83023"/>
            </a:avLst>
          </a:prstGeom>
          <a:solidFill>
            <a:srgbClr val="E1C2C2"/>
          </a:solidFill>
          <a:ln/>
        </p:spPr>
      </p:sp>
      <p:sp>
        <p:nvSpPr>
          <p:cNvPr id="20" name="Text 17"/>
          <p:cNvSpPr/>
          <p:nvPr/>
        </p:nvSpPr>
        <p:spPr>
          <a:xfrm>
            <a:off x="10558701" y="5487948"/>
            <a:ext cx="2259330" cy="297656"/>
          </a:xfrm>
          <a:prstGeom prst="rect">
            <a:avLst/>
          </a:prstGeom>
          <a:noFill/>
          <a:ln/>
        </p:spPr>
        <p:txBody>
          <a:bodyPr wrap="none" lIns="0" tIns="0" rIns="0" bIns="0" rtlCol="0" anchor="t"/>
          <a:lstStyle/>
          <a:p>
            <a:pPr marL="0" indent="0" algn="l">
              <a:lnSpc>
                <a:spcPts val="2200"/>
              </a:lnSpc>
              <a:buNone/>
            </a:pPr>
            <a:r>
              <a:rPr lang="en-US" sz="2000" dirty="0">
                <a:solidFill>
                  <a:srgbClr val="000000"/>
                </a:solidFill>
                <a:latin typeface="Playfair Display Semi Bold" pitchFamily="34" charset="0"/>
                <a:ea typeface="Playfair Display Semi Bold" pitchFamily="34" charset="-122"/>
                <a:cs typeface="Playfair Display Semi Bold" pitchFamily="34" charset="-120"/>
              </a:rPr>
              <a:t>❌</a:t>
            </a:r>
            <a:r>
              <a:rPr lang="en-US" sz="2000" dirty="0">
                <a:solidFill>
                  <a:srgbClr val="6F655D"/>
                </a:solidFill>
                <a:latin typeface="Playfair Display Semi Bold" pitchFamily="34" charset="0"/>
                <a:ea typeface="Playfair Display Semi Bold" pitchFamily="34" charset="-122"/>
                <a:cs typeface="Playfair Display Semi Bold" pitchFamily="34" charset="-120"/>
              </a:rPr>
              <a:t> Zero Visibility</a:t>
            </a:r>
            <a:endParaRPr lang="en-US" sz="2000" dirty="0"/>
          </a:p>
        </p:txBody>
      </p:sp>
      <p:sp>
        <p:nvSpPr>
          <p:cNvPr id="21" name="Text 18"/>
          <p:cNvSpPr/>
          <p:nvPr/>
        </p:nvSpPr>
        <p:spPr>
          <a:xfrm>
            <a:off x="10558701" y="5929551"/>
            <a:ext cx="3243143" cy="259794"/>
          </a:xfrm>
          <a:prstGeom prst="rect">
            <a:avLst/>
          </a:prstGeom>
          <a:noFill/>
          <a:ln/>
        </p:spPr>
        <p:txBody>
          <a:bodyPr wrap="none" lIns="0" tIns="0" rIns="0" bIns="0" rtlCol="0" anchor="t"/>
          <a:lstStyle/>
          <a:p>
            <a:pPr marL="0" indent="0" algn="l">
              <a:lnSpc>
                <a:spcPts val="2000"/>
              </a:lnSpc>
              <a:buNone/>
            </a:pPr>
            <a:r>
              <a:rPr lang="en-US" sz="1600" dirty="0">
                <a:solidFill>
                  <a:srgbClr val="6F655D"/>
                </a:solidFill>
                <a:latin typeface="Public Sans" pitchFamily="34" charset="0"/>
                <a:ea typeface="Public Sans" pitchFamily="34" charset="-122"/>
                <a:cs typeface="Public Sans" pitchFamily="34" charset="-120"/>
              </a:rPr>
              <a:t>No real-time status on any expense</a:t>
            </a:r>
            <a:endParaRPr lang="en-US" sz="1600" dirty="0"/>
          </a:p>
        </p:txBody>
      </p:sp>
      <p:sp>
        <p:nvSpPr>
          <p:cNvPr id="22" name="Shape 19"/>
          <p:cNvSpPr/>
          <p:nvPr/>
        </p:nvSpPr>
        <p:spPr>
          <a:xfrm>
            <a:off x="6118979" y="6716792"/>
            <a:ext cx="7878842" cy="928568"/>
          </a:xfrm>
          <a:prstGeom prst="roundRect">
            <a:avLst>
              <a:gd name="adj" fmla="val 8176"/>
            </a:avLst>
          </a:prstGeom>
          <a:solidFill>
            <a:srgbClr val="FFB3B4"/>
          </a:solidFill>
          <a:ln/>
        </p:spPr>
      </p:sp>
      <p:pic>
        <p:nvPicPr>
          <p:cNvPr id="23" name="Image 1" descr="preencoded.png"/>
          <p:cNvPicPr>
            <a:picLocks noChangeAspect="1"/>
          </p:cNvPicPr>
          <p:nvPr/>
        </p:nvPicPr>
        <p:blipFill>
          <a:blip r:embed="rId3"/>
          <a:stretch>
            <a:fillRect/>
          </a:stretch>
        </p:blipFill>
        <p:spPr>
          <a:xfrm>
            <a:off x="6299716" y="6982539"/>
            <a:ext cx="225862" cy="180737"/>
          </a:xfrm>
          <a:prstGeom prst="rect">
            <a:avLst/>
          </a:prstGeom>
        </p:spPr>
      </p:pic>
      <p:sp>
        <p:nvSpPr>
          <p:cNvPr id="24" name="Text 20"/>
          <p:cNvSpPr/>
          <p:nvPr/>
        </p:nvSpPr>
        <p:spPr>
          <a:xfrm>
            <a:off x="6706314" y="6905863"/>
            <a:ext cx="7110770" cy="519589"/>
          </a:xfrm>
          <a:prstGeom prst="rect">
            <a:avLst/>
          </a:prstGeom>
          <a:noFill/>
          <a:ln/>
        </p:spPr>
        <p:txBody>
          <a:bodyPr wrap="square" lIns="0" tIns="0" rIns="0" bIns="0" rtlCol="0" anchor="t"/>
          <a:lstStyle/>
          <a:p>
            <a:pPr marL="0" indent="0" algn="l">
              <a:lnSpc>
                <a:spcPts val="2000"/>
              </a:lnSpc>
              <a:buNone/>
            </a:pPr>
            <a:r>
              <a:rPr lang="en-US" dirty="0">
                <a:solidFill>
                  <a:srgbClr val="000000"/>
                </a:solidFill>
                <a:latin typeface="Public Sans" pitchFamily="34" charset="0"/>
                <a:ea typeface="Public Sans" pitchFamily="34" charset="-122"/>
                <a:cs typeface="Public Sans" pitchFamily="34" charset="-120"/>
              </a:rPr>
              <a:t>Result: An inefficient, time-consuming system that cost businesses both money and trust.</a:t>
            </a:r>
            <a:endParaRPr lang="en-US" dirty="0"/>
          </a:p>
        </p:txBody>
      </p:sp>
      <p:sp>
        <p:nvSpPr>
          <p:cNvPr id="25" name="Rectangle: Rounded Corners 24">
            <a:extLst>
              <a:ext uri="{FF2B5EF4-FFF2-40B4-BE49-F238E27FC236}">
                <a16:creationId xmlns:a16="http://schemas.microsoft.com/office/drawing/2014/main" id="{E728B496-E8E9-1B16-C49E-D0E0070FBF49}"/>
              </a:ext>
            </a:extLst>
          </p:cNvPr>
          <p:cNvSpPr/>
          <p:nvPr/>
        </p:nvSpPr>
        <p:spPr>
          <a:xfrm>
            <a:off x="12818031" y="7645360"/>
            <a:ext cx="1730307" cy="519589"/>
          </a:xfrm>
          <a:prstGeom prst="round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51FD8D9D-3503-D1F7-279F-6D41C5E46F0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1074" y="-48812"/>
            <a:ext cx="5691425" cy="82784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1407" y="616863"/>
            <a:ext cx="6563558" cy="697706"/>
          </a:xfrm>
          <a:prstGeom prst="rect">
            <a:avLst/>
          </a:prstGeom>
          <a:noFill/>
          <a:ln/>
        </p:spPr>
        <p:txBody>
          <a:bodyPr wrap="none" lIns="0" tIns="0" rIns="0" bIns="0" rtlCol="0" anchor="t"/>
          <a:lstStyle/>
          <a:p>
            <a:pPr marL="0" indent="0" algn="l">
              <a:lnSpc>
                <a:spcPts val="5450"/>
              </a:lnSpc>
              <a:buNone/>
            </a:pPr>
            <a:r>
              <a:rPr lang="en-US" sz="4350" dirty="0">
                <a:solidFill>
                  <a:srgbClr val="4B6981"/>
                </a:solidFill>
                <a:latin typeface="Playfair Display Semi Bold" pitchFamily="34" charset="0"/>
                <a:ea typeface="Playfair Display Semi Bold" pitchFamily="34" charset="-122"/>
                <a:cs typeface="Playfair Display Semi Bold" pitchFamily="34" charset="-120"/>
              </a:rPr>
              <a:t>Automation Is the Answer</a:t>
            </a:r>
            <a:endParaRPr lang="en-US" sz="4350" dirty="0"/>
          </a:p>
        </p:txBody>
      </p:sp>
      <p:sp>
        <p:nvSpPr>
          <p:cNvPr id="3" name="Text 1"/>
          <p:cNvSpPr/>
          <p:nvPr/>
        </p:nvSpPr>
        <p:spPr>
          <a:xfrm>
            <a:off x="781407" y="1431608"/>
            <a:ext cx="13067586" cy="354330"/>
          </a:xfrm>
          <a:prstGeom prst="rect">
            <a:avLst/>
          </a:prstGeom>
          <a:noFill/>
          <a:ln/>
        </p:spPr>
        <p:txBody>
          <a:bodyPr wrap="none" lIns="0" tIns="0" rIns="0" bIns="0" rtlCol="0" anchor="t"/>
          <a:lstStyle/>
          <a:p>
            <a:pPr marL="0" indent="0" algn="l">
              <a:lnSpc>
                <a:spcPts val="2750"/>
              </a:lnSpc>
              <a:buNone/>
            </a:pPr>
            <a:r>
              <a:rPr lang="en-US" sz="2000" dirty="0">
                <a:solidFill>
                  <a:srgbClr val="6F655D"/>
                </a:solidFill>
                <a:latin typeface="Public Sans" pitchFamily="34" charset="0"/>
                <a:ea typeface="Public Sans" pitchFamily="34" charset="-122"/>
                <a:cs typeface="Public Sans" pitchFamily="34" charset="-120"/>
              </a:rPr>
              <a:t>A single, centralised pipeline replaces every manual step — from submission to approval notification.</a:t>
            </a:r>
            <a:endParaRPr lang="en-US" sz="2000" dirty="0"/>
          </a:p>
        </p:txBody>
      </p:sp>
      <p:sp>
        <p:nvSpPr>
          <p:cNvPr id="4" name="Shape 2"/>
          <p:cNvSpPr/>
          <p:nvPr/>
        </p:nvSpPr>
        <p:spPr>
          <a:xfrm>
            <a:off x="781407" y="2355652"/>
            <a:ext cx="6423898" cy="2186345"/>
          </a:xfrm>
          <a:prstGeom prst="roundRect">
            <a:avLst>
              <a:gd name="adj" fmla="val 4289"/>
            </a:avLst>
          </a:prstGeom>
          <a:solidFill>
            <a:srgbClr val="F0DEDC"/>
          </a:solidFill>
          <a:ln w="7620">
            <a:solidFill>
              <a:srgbClr val="E1C2C2"/>
            </a:solidFill>
            <a:prstDash val="solid"/>
          </a:ln>
          <a:effectLst>
            <a:outerShdw dist="29210" dir="2700000" algn="bl" rotWithShape="0">
              <a:srgbClr val="E1C2C2">
                <a:alpha val="100000"/>
              </a:srgbClr>
            </a:outerShdw>
          </a:effectLst>
        </p:spPr>
      </p:sp>
      <p:sp>
        <p:nvSpPr>
          <p:cNvPr id="5" name="Shape 3"/>
          <p:cNvSpPr/>
          <p:nvPr/>
        </p:nvSpPr>
        <p:spPr>
          <a:xfrm>
            <a:off x="1012269" y="2586514"/>
            <a:ext cx="669846" cy="669846"/>
          </a:xfrm>
          <a:prstGeom prst="roundRect">
            <a:avLst>
              <a:gd name="adj" fmla="val 13649534"/>
            </a:avLst>
          </a:prstGeom>
          <a:solidFill>
            <a:srgbClr val="E1C2C2"/>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6459" y="2770703"/>
            <a:ext cx="301347" cy="301347"/>
          </a:xfrm>
          <a:prstGeom prst="rect">
            <a:avLst/>
          </a:prstGeom>
        </p:spPr>
      </p:pic>
      <p:sp>
        <p:nvSpPr>
          <p:cNvPr id="7" name="Text 4"/>
          <p:cNvSpPr/>
          <p:nvPr/>
        </p:nvSpPr>
        <p:spPr>
          <a:xfrm>
            <a:off x="1012269" y="3476149"/>
            <a:ext cx="2790944" cy="348853"/>
          </a:xfrm>
          <a:prstGeom prst="rect">
            <a:avLst/>
          </a:prstGeom>
          <a:noFill/>
          <a:ln/>
        </p:spPr>
        <p:txBody>
          <a:bodyPr wrap="none" lIns="0" tIns="0" rIns="0" bIns="0" rtlCol="0" anchor="t"/>
          <a:lstStyle/>
          <a:p>
            <a:pPr marL="0" indent="0" algn="l">
              <a:lnSpc>
                <a:spcPts val="2700"/>
              </a:lnSpc>
              <a:buNone/>
            </a:pPr>
            <a:r>
              <a:rPr lang="en-US" sz="2150" dirty="0">
                <a:solidFill>
                  <a:srgbClr val="000000"/>
                </a:solidFill>
                <a:latin typeface="Playfair Display Semi Bold" pitchFamily="34" charset="0"/>
                <a:ea typeface="Playfair Display Semi Bold" pitchFamily="34" charset="-122"/>
                <a:cs typeface="Playfair Display Semi Bold" pitchFamily="34" charset="-120"/>
              </a:rPr>
              <a:t>Submit</a:t>
            </a:r>
            <a:endParaRPr lang="en-US" sz="2150" dirty="0"/>
          </a:p>
        </p:txBody>
      </p:sp>
      <p:sp>
        <p:nvSpPr>
          <p:cNvPr id="8" name="Text 5"/>
          <p:cNvSpPr/>
          <p:nvPr/>
        </p:nvSpPr>
        <p:spPr>
          <a:xfrm>
            <a:off x="1012269" y="3956804"/>
            <a:ext cx="5962174" cy="354330"/>
          </a:xfrm>
          <a:prstGeom prst="rect">
            <a:avLst/>
          </a:prstGeom>
          <a:noFill/>
          <a:ln/>
        </p:spPr>
        <p:txBody>
          <a:bodyPr wrap="none" lIns="0" tIns="0" rIns="0" bIns="0" rtlCol="0" anchor="t"/>
          <a:lstStyle/>
          <a:p>
            <a:pPr marL="0" indent="0" algn="l">
              <a:lnSpc>
                <a:spcPts val="2750"/>
              </a:lnSpc>
              <a:buNone/>
            </a:pPr>
            <a:r>
              <a:rPr lang="en-US" sz="1750" dirty="0">
                <a:solidFill>
                  <a:srgbClr val="000000"/>
                </a:solidFill>
                <a:latin typeface="Public Sans" pitchFamily="34" charset="0"/>
                <a:ea typeface="Public Sans" pitchFamily="34" charset="-122"/>
                <a:cs typeface="Public Sans" pitchFamily="34" charset="-120"/>
              </a:rPr>
              <a:t>Employees fill a structured Google Form</a:t>
            </a:r>
            <a:endParaRPr lang="en-US" sz="1750" dirty="0"/>
          </a:p>
        </p:txBody>
      </p:sp>
      <p:sp>
        <p:nvSpPr>
          <p:cNvPr id="9" name="Shape 6"/>
          <p:cNvSpPr/>
          <p:nvPr/>
        </p:nvSpPr>
        <p:spPr>
          <a:xfrm>
            <a:off x="7425095" y="2355652"/>
            <a:ext cx="6423898" cy="2186345"/>
          </a:xfrm>
          <a:prstGeom prst="roundRect">
            <a:avLst>
              <a:gd name="adj" fmla="val 4289"/>
            </a:avLst>
          </a:prstGeom>
          <a:solidFill>
            <a:srgbClr val="F0DEDC"/>
          </a:solidFill>
          <a:ln w="7620">
            <a:solidFill>
              <a:srgbClr val="CCC4EC"/>
            </a:solidFill>
            <a:prstDash val="solid"/>
          </a:ln>
          <a:effectLst>
            <a:outerShdw dist="29210" dir="2700000" algn="bl" rotWithShape="0">
              <a:srgbClr val="CCC4EC">
                <a:alpha val="100000"/>
              </a:srgbClr>
            </a:outerShdw>
          </a:effectLst>
        </p:spPr>
      </p:sp>
      <p:sp>
        <p:nvSpPr>
          <p:cNvPr id="10" name="Shape 7"/>
          <p:cNvSpPr/>
          <p:nvPr/>
        </p:nvSpPr>
        <p:spPr>
          <a:xfrm>
            <a:off x="7655957" y="2586514"/>
            <a:ext cx="669846" cy="669846"/>
          </a:xfrm>
          <a:prstGeom prst="roundRect">
            <a:avLst>
              <a:gd name="adj" fmla="val 13649534"/>
            </a:avLst>
          </a:prstGeom>
          <a:solidFill>
            <a:srgbClr val="CCC4EC"/>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40147" y="2770703"/>
            <a:ext cx="301347" cy="301347"/>
          </a:xfrm>
          <a:prstGeom prst="rect">
            <a:avLst/>
          </a:prstGeom>
        </p:spPr>
      </p:pic>
      <p:sp>
        <p:nvSpPr>
          <p:cNvPr id="12" name="Text 8"/>
          <p:cNvSpPr/>
          <p:nvPr/>
        </p:nvSpPr>
        <p:spPr>
          <a:xfrm>
            <a:off x="7655957" y="3476149"/>
            <a:ext cx="2790944" cy="348853"/>
          </a:xfrm>
          <a:prstGeom prst="rect">
            <a:avLst/>
          </a:prstGeom>
          <a:noFill/>
          <a:ln/>
        </p:spPr>
        <p:txBody>
          <a:bodyPr wrap="none" lIns="0" tIns="0" rIns="0" bIns="0" rtlCol="0" anchor="t"/>
          <a:lstStyle/>
          <a:p>
            <a:pPr marL="0" indent="0" algn="l">
              <a:lnSpc>
                <a:spcPts val="2700"/>
              </a:lnSpc>
              <a:buNone/>
            </a:pPr>
            <a:r>
              <a:rPr lang="en-US" sz="2150" dirty="0">
                <a:solidFill>
                  <a:srgbClr val="000000"/>
                </a:solidFill>
                <a:latin typeface="Playfair Display Semi Bold" pitchFamily="34" charset="0"/>
                <a:ea typeface="Playfair Display Semi Bold" pitchFamily="34" charset="-122"/>
                <a:cs typeface="Playfair Display Semi Bold" pitchFamily="34" charset="-120"/>
              </a:rPr>
              <a:t>Store</a:t>
            </a:r>
            <a:endParaRPr lang="en-US" sz="2150" dirty="0"/>
          </a:p>
        </p:txBody>
      </p:sp>
      <p:sp>
        <p:nvSpPr>
          <p:cNvPr id="13" name="Text 9"/>
          <p:cNvSpPr/>
          <p:nvPr/>
        </p:nvSpPr>
        <p:spPr>
          <a:xfrm>
            <a:off x="7655957" y="3956804"/>
            <a:ext cx="5962174" cy="354330"/>
          </a:xfrm>
          <a:prstGeom prst="rect">
            <a:avLst/>
          </a:prstGeom>
          <a:noFill/>
          <a:ln/>
        </p:spPr>
        <p:txBody>
          <a:bodyPr wrap="none" lIns="0" tIns="0" rIns="0" bIns="0" rtlCol="0" anchor="t"/>
          <a:lstStyle/>
          <a:p>
            <a:pPr marL="0" indent="0" algn="l">
              <a:lnSpc>
                <a:spcPts val="2750"/>
              </a:lnSpc>
              <a:buNone/>
            </a:pPr>
            <a:r>
              <a:rPr lang="en-US" sz="1750" dirty="0">
                <a:solidFill>
                  <a:srgbClr val="000000"/>
                </a:solidFill>
                <a:latin typeface="Public Sans" pitchFamily="34" charset="0"/>
                <a:ea typeface="Public Sans" pitchFamily="34" charset="-122"/>
                <a:cs typeface="Public Sans" pitchFamily="34" charset="-120"/>
              </a:rPr>
              <a:t>Data lands instantly in Google Sheets</a:t>
            </a:r>
            <a:endParaRPr lang="en-US" sz="1750" dirty="0"/>
          </a:p>
        </p:txBody>
      </p:sp>
      <p:sp>
        <p:nvSpPr>
          <p:cNvPr id="14" name="Shape 10"/>
          <p:cNvSpPr/>
          <p:nvPr/>
        </p:nvSpPr>
        <p:spPr>
          <a:xfrm>
            <a:off x="781407" y="4761786"/>
            <a:ext cx="6423898" cy="2186345"/>
          </a:xfrm>
          <a:prstGeom prst="roundRect">
            <a:avLst>
              <a:gd name="adj" fmla="val 4289"/>
            </a:avLst>
          </a:prstGeom>
          <a:solidFill>
            <a:srgbClr val="F0DEDC"/>
          </a:solidFill>
          <a:ln w="7620">
            <a:solidFill>
              <a:srgbClr val="B4DAE4"/>
            </a:solidFill>
            <a:prstDash val="solid"/>
          </a:ln>
          <a:effectLst>
            <a:outerShdw dist="29210" dir="2700000" algn="bl" rotWithShape="0">
              <a:srgbClr val="B4DAE4">
                <a:alpha val="100000"/>
              </a:srgbClr>
            </a:outerShdw>
          </a:effectLst>
        </p:spPr>
      </p:sp>
      <p:sp>
        <p:nvSpPr>
          <p:cNvPr id="15" name="Shape 11"/>
          <p:cNvSpPr/>
          <p:nvPr/>
        </p:nvSpPr>
        <p:spPr>
          <a:xfrm>
            <a:off x="1012269" y="4992648"/>
            <a:ext cx="669846" cy="669846"/>
          </a:xfrm>
          <a:prstGeom prst="roundRect">
            <a:avLst>
              <a:gd name="adj" fmla="val 13649534"/>
            </a:avLst>
          </a:prstGeom>
          <a:solidFill>
            <a:srgbClr val="B4DAE4"/>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6459" y="5176838"/>
            <a:ext cx="301347" cy="301347"/>
          </a:xfrm>
          <a:prstGeom prst="rect">
            <a:avLst/>
          </a:prstGeom>
        </p:spPr>
      </p:pic>
      <p:sp>
        <p:nvSpPr>
          <p:cNvPr id="17" name="Text 12"/>
          <p:cNvSpPr/>
          <p:nvPr/>
        </p:nvSpPr>
        <p:spPr>
          <a:xfrm>
            <a:off x="1012269" y="5882283"/>
            <a:ext cx="2790944" cy="348853"/>
          </a:xfrm>
          <a:prstGeom prst="rect">
            <a:avLst/>
          </a:prstGeom>
          <a:noFill/>
          <a:ln/>
        </p:spPr>
        <p:txBody>
          <a:bodyPr wrap="none" lIns="0" tIns="0" rIns="0" bIns="0" rtlCol="0" anchor="t"/>
          <a:lstStyle/>
          <a:p>
            <a:pPr marL="0" indent="0" algn="l">
              <a:lnSpc>
                <a:spcPts val="2700"/>
              </a:lnSpc>
              <a:buNone/>
            </a:pPr>
            <a:r>
              <a:rPr lang="en-US" sz="2150" dirty="0">
                <a:solidFill>
                  <a:srgbClr val="000000"/>
                </a:solidFill>
                <a:latin typeface="Playfair Display Semi Bold" pitchFamily="34" charset="0"/>
                <a:ea typeface="Playfair Display Semi Bold" pitchFamily="34" charset="-122"/>
                <a:cs typeface="Playfair Display Semi Bold" pitchFamily="34" charset="-120"/>
              </a:rPr>
              <a:t>Trigger</a:t>
            </a:r>
            <a:endParaRPr lang="en-US" sz="2150" dirty="0"/>
          </a:p>
        </p:txBody>
      </p:sp>
      <p:sp>
        <p:nvSpPr>
          <p:cNvPr id="18" name="Text 13"/>
          <p:cNvSpPr/>
          <p:nvPr/>
        </p:nvSpPr>
        <p:spPr>
          <a:xfrm>
            <a:off x="1012269" y="6362938"/>
            <a:ext cx="5962174" cy="354330"/>
          </a:xfrm>
          <a:prstGeom prst="rect">
            <a:avLst/>
          </a:prstGeom>
          <a:noFill/>
          <a:ln/>
        </p:spPr>
        <p:txBody>
          <a:bodyPr wrap="none" lIns="0" tIns="0" rIns="0" bIns="0" rtlCol="0" anchor="t"/>
          <a:lstStyle/>
          <a:p>
            <a:pPr marL="0" indent="0" algn="l">
              <a:lnSpc>
                <a:spcPts val="2750"/>
              </a:lnSpc>
              <a:buNone/>
            </a:pPr>
            <a:r>
              <a:rPr lang="en-US" sz="1750" dirty="0">
                <a:solidFill>
                  <a:srgbClr val="000000"/>
                </a:solidFill>
                <a:latin typeface="Public Sans" pitchFamily="34" charset="0"/>
                <a:ea typeface="Public Sans" pitchFamily="34" charset="-122"/>
                <a:cs typeface="Public Sans" pitchFamily="34" charset="-120"/>
              </a:rPr>
              <a:t>n8n detects every new entry in real time</a:t>
            </a:r>
            <a:endParaRPr lang="en-US" sz="1750" dirty="0"/>
          </a:p>
        </p:txBody>
      </p:sp>
      <p:sp>
        <p:nvSpPr>
          <p:cNvPr id="19" name="Shape 14"/>
          <p:cNvSpPr/>
          <p:nvPr/>
        </p:nvSpPr>
        <p:spPr>
          <a:xfrm>
            <a:off x="7425095" y="4761786"/>
            <a:ext cx="6423898" cy="2186345"/>
          </a:xfrm>
          <a:prstGeom prst="roundRect">
            <a:avLst>
              <a:gd name="adj" fmla="val 4289"/>
            </a:avLst>
          </a:prstGeom>
          <a:solidFill>
            <a:srgbClr val="F0DEDC"/>
          </a:solidFill>
          <a:ln w="7620">
            <a:solidFill>
              <a:srgbClr val="E1C2C2"/>
            </a:solidFill>
            <a:prstDash val="solid"/>
          </a:ln>
          <a:effectLst>
            <a:outerShdw dist="29210" dir="2700000" algn="bl" rotWithShape="0">
              <a:srgbClr val="E1C2C2">
                <a:alpha val="100000"/>
              </a:srgbClr>
            </a:outerShdw>
          </a:effectLst>
        </p:spPr>
      </p:sp>
      <p:sp>
        <p:nvSpPr>
          <p:cNvPr id="20" name="Shape 15"/>
          <p:cNvSpPr/>
          <p:nvPr/>
        </p:nvSpPr>
        <p:spPr>
          <a:xfrm>
            <a:off x="7655957" y="4992648"/>
            <a:ext cx="669846" cy="669846"/>
          </a:xfrm>
          <a:prstGeom prst="roundRect">
            <a:avLst>
              <a:gd name="adj" fmla="val 13649534"/>
            </a:avLst>
          </a:prstGeom>
          <a:solidFill>
            <a:srgbClr val="E1C2C2"/>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40147" y="5176838"/>
            <a:ext cx="301347" cy="301347"/>
          </a:xfrm>
          <a:prstGeom prst="rect">
            <a:avLst/>
          </a:prstGeom>
        </p:spPr>
      </p:pic>
      <p:sp>
        <p:nvSpPr>
          <p:cNvPr id="22" name="Text 16"/>
          <p:cNvSpPr/>
          <p:nvPr/>
        </p:nvSpPr>
        <p:spPr>
          <a:xfrm>
            <a:off x="7655957" y="5882283"/>
            <a:ext cx="2790944" cy="348853"/>
          </a:xfrm>
          <a:prstGeom prst="rect">
            <a:avLst/>
          </a:prstGeom>
          <a:noFill/>
          <a:ln/>
        </p:spPr>
        <p:txBody>
          <a:bodyPr wrap="none" lIns="0" tIns="0" rIns="0" bIns="0" rtlCol="0" anchor="t"/>
          <a:lstStyle/>
          <a:p>
            <a:pPr marL="0" indent="0" algn="l">
              <a:lnSpc>
                <a:spcPts val="2700"/>
              </a:lnSpc>
              <a:buNone/>
            </a:pPr>
            <a:r>
              <a:rPr lang="en-US" sz="2150" dirty="0">
                <a:solidFill>
                  <a:srgbClr val="000000"/>
                </a:solidFill>
                <a:latin typeface="Playfair Display Semi Bold" pitchFamily="34" charset="0"/>
                <a:ea typeface="Playfair Display Semi Bold" pitchFamily="34" charset="-122"/>
                <a:cs typeface="Playfair Display Semi Bold" pitchFamily="34" charset="-120"/>
              </a:rPr>
              <a:t>Notify</a:t>
            </a:r>
            <a:endParaRPr lang="en-US" sz="2150" dirty="0"/>
          </a:p>
        </p:txBody>
      </p:sp>
      <p:sp>
        <p:nvSpPr>
          <p:cNvPr id="23" name="Text 17"/>
          <p:cNvSpPr/>
          <p:nvPr/>
        </p:nvSpPr>
        <p:spPr>
          <a:xfrm>
            <a:off x="7655957" y="6362938"/>
            <a:ext cx="5962174" cy="354330"/>
          </a:xfrm>
          <a:prstGeom prst="rect">
            <a:avLst/>
          </a:prstGeom>
          <a:noFill/>
          <a:ln/>
        </p:spPr>
        <p:txBody>
          <a:bodyPr wrap="none" lIns="0" tIns="0" rIns="0" bIns="0" rtlCol="0" anchor="t"/>
          <a:lstStyle/>
          <a:p>
            <a:pPr marL="0" indent="0" algn="l">
              <a:lnSpc>
                <a:spcPts val="2750"/>
              </a:lnSpc>
              <a:buNone/>
            </a:pPr>
            <a:r>
              <a:rPr lang="en-US" sz="1750" dirty="0">
                <a:solidFill>
                  <a:srgbClr val="000000"/>
                </a:solidFill>
                <a:latin typeface="Public Sans" pitchFamily="34" charset="0"/>
                <a:ea typeface="Public Sans" pitchFamily="34" charset="-122"/>
                <a:cs typeface="Public Sans" pitchFamily="34" charset="-120"/>
              </a:rPr>
              <a:t>Automated email alerts sent immediately</a:t>
            </a:r>
            <a:endParaRPr lang="en-US" sz="1750" dirty="0"/>
          </a:p>
        </p:txBody>
      </p:sp>
      <p:sp>
        <p:nvSpPr>
          <p:cNvPr id="24" name="Shape 18"/>
          <p:cNvSpPr/>
          <p:nvPr/>
        </p:nvSpPr>
        <p:spPr>
          <a:xfrm>
            <a:off x="781407" y="7195304"/>
            <a:ext cx="709374" cy="417314"/>
          </a:xfrm>
          <a:prstGeom prst="roundRect">
            <a:avLst>
              <a:gd name="adj" fmla="val 17978"/>
            </a:avLst>
          </a:prstGeom>
          <a:solidFill>
            <a:srgbClr val="EEDDDD"/>
          </a:solidFill>
          <a:ln/>
        </p:spPr>
      </p:sp>
      <p:sp>
        <p:nvSpPr>
          <p:cNvPr id="25" name="Text 19"/>
          <p:cNvSpPr/>
          <p:nvPr/>
        </p:nvSpPr>
        <p:spPr>
          <a:xfrm>
            <a:off x="915353" y="7262217"/>
            <a:ext cx="441484" cy="283488"/>
          </a:xfrm>
          <a:prstGeom prst="rect">
            <a:avLst/>
          </a:prstGeom>
          <a:noFill/>
          <a:ln/>
        </p:spPr>
        <p:txBody>
          <a:bodyPr wrap="none" lIns="0" tIns="0" rIns="0" bIns="0" rtlCol="0" anchor="t"/>
          <a:lstStyle/>
          <a:p>
            <a:pPr marL="0" indent="0" algn="l">
              <a:lnSpc>
                <a:spcPts val="2200"/>
              </a:lnSpc>
              <a:buNone/>
            </a:pPr>
            <a:r>
              <a:rPr lang="en-US" sz="1400" dirty="0">
                <a:solidFill>
                  <a:srgbClr val="6F655D"/>
                </a:solidFill>
                <a:latin typeface="Public Sans" pitchFamily="34" charset="0"/>
                <a:ea typeface="Public Sans" pitchFamily="34" charset="-122"/>
                <a:cs typeface="Public Sans" pitchFamily="34" charset="-120"/>
              </a:rPr>
              <a:t>FAST</a:t>
            </a:r>
            <a:endParaRPr lang="en-US" sz="1400" dirty="0"/>
          </a:p>
        </p:txBody>
      </p:sp>
      <p:sp>
        <p:nvSpPr>
          <p:cNvPr id="26" name="Shape 20"/>
          <p:cNvSpPr/>
          <p:nvPr/>
        </p:nvSpPr>
        <p:spPr>
          <a:xfrm>
            <a:off x="1602343" y="7195304"/>
            <a:ext cx="1208723" cy="417314"/>
          </a:xfrm>
          <a:prstGeom prst="roundRect">
            <a:avLst>
              <a:gd name="adj" fmla="val 17978"/>
            </a:avLst>
          </a:prstGeom>
          <a:solidFill>
            <a:srgbClr val="EEDDDD"/>
          </a:solidFill>
          <a:ln/>
        </p:spPr>
      </p:sp>
      <p:sp>
        <p:nvSpPr>
          <p:cNvPr id="27" name="Text 21"/>
          <p:cNvSpPr/>
          <p:nvPr/>
        </p:nvSpPr>
        <p:spPr>
          <a:xfrm>
            <a:off x="1736288" y="7262217"/>
            <a:ext cx="940832" cy="283488"/>
          </a:xfrm>
          <a:prstGeom prst="rect">
            <a:avLst/>
          </a:prstGeom>
          <a:noFill/>
          <a:ln/>
        </p:spPr>
        <p:txBody>
          <a:bodyPr wrap="none" lIns="0" tIns="0" rIns="0" bIns="0" rtlCol="0" anchor="t"/>
          <a:lstStyle/>
          <a:p>
            <a:pPr marL="0" indent="0" algn="l">
              <a:lnSpc>
                <a:spcPts val="2200"/>
              </a:lnSpc>
              <a:buNone/>
            </a:pPr>
            <a:r>
              <a:rPr lang="en-US" sz="1400" dirty="0">
                <a:solidFill>
                  <a:srgbClr val="6F655D"/>
                </a:solidFill>
                <a:latin typeface="Public Sans" pitchFamily="34" charset="0"/>
                <a:ea typeface="Public Sans" pitchFamily="34" charset="-122"/>
                <a:cs typeface="Public Sans" pitchFamily="34" charset="-120"/>
              </a:rPr>
              <a:t>ACCURATE</a:t>
            </a:r>
            <a:endParaRPr lang="en-US" sz="1400" dirty="0"/>
          </a:p>
        </p:txBody>
      </p:sp>
      <p:sp>
        <p:nvSpPr>
          <p:cNvPr id="28" name="Shape 22"/>
          <p:cNvSpPr/>
          <p:nvPr/>
        </p:nvSpPr>
        <p:spPr>
          <a:xfrm>
            <a:off x="2922627" y="7195304"/>
            <a:ext cx="1188125" cy="417314"/>
          </a:xfrm>
          <a:prstGeom prst="roundRect">
            <a:avLst>
              <a:gd name="adj" fmla="val 17978"/>
            </a:avLst>
          </a:prstGeom>
          <a:solidFill>
            <a:srgbClr val="EEDDDD"/>
          </a:solidFill>
          <a:ln/>
        </p:spPr>
      </p:sp>
      <p:sp>
        <p:nvSpPr>
          <p:cNvPr id="29" name="Text 23"/>
          <p:cNvSpPr/>
          <p:nvPr/>
        </p:nvSpPr>
        <p:spPr>
          <a:xfrm>
            <a:off x="3056572" y="7262217"/>
            <a:ext cx="920234" cy="283488"/>
          </a:xfrm>
          <a:prstGeom prst="rect">
            <a:avLst/>
          </a:prstGeom>
          <a:noFill/>
          <a:ln/>
        </p:spPr>
        <p:txBody>
          <a:bodyPr wrap="none" lIns="0" tIns="0" rIns="0" bIns="0" rtlCol="0" anchor="t"/>
          <a:lstStyle/>
          <a:p>
            <a:pPr marL="0" indent="0" algn="l">
              <a:lnSpc>
                <a:spcPts val="2200"/>
              </a:lnSpc>
              <a:buNone/>
            </a:pPr>
            <a:r>
              <a:rPr lang="en-US" sz="1400" dirty="0">
                <a:solidFill>
                  <a:srgbClr val="6F655D"/>
                </a:solidFill>
                <a:latin typeface="Public Sans" pitchFamily="34" charset="0"/>
                <a:ea typeface="Public Sans" pitchFamily="34" charset="-122"/>
                <a:cs typeface="Public Sans" pitchFamily="34" charset="-120"/>
              </a:rPr>
              <a:t>REAL-TIME</a:t>
            </a:r>
            <a:endParaRPr lang="en-US" sz="1400" dirty="0"/>
          </a:p>
        </p:txBody>
      </p:sp>
      <p:sp>
        <p:nvSpPr>
          <p:cNvPr id="30" name="Rectangle: Rounded Corners 29">
            <a:extLst>
              <a:ext uri="{FF2B5EF4-FFF2-40B4-BE49-F238E27FC236}">
                <a16:creationId xmlns:a16="http://schemas.microsoft.com/office/drawing/2014/main" id="{64988FC0-9CEC-12ED-83D0-9CA0A27C27C3}"/>
              </a:ext>
            </a:extLst>
          </p:cNvPr>
          <p:cNvSpPr/>
          <p:nvPr/>
        </p:nvSpPr>
        <p:spPr>
          <a:xfrm>
            <a:off x="12871938" y="7612618"/>
            <a:ext cx="1641231" cy="511474"/>
          </a:xfrm>
          <a:prstGeom prst="round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66981" y="592062"/>
            <a:ext cx="9072801" cy="708779"/>
          </a:xfrm>
          <a:prstGeom prst="rect">
            <a:avLst/>
          </a:prstGeom>
          <a:noFill/>
          <a:ln/>
        </p:spPr>
        <p:txBody>
          <a:bodyPr wrap="none" lIns="0" tIns="0" rIns="0" bIns="0" rtlCol="0" anchor="t"/>
          <a:lstStyle/>
          <a:p>
            <a:pPr marL="0" indent="0" algn="l">
              <a:lnSpc>
                <a:spcPts val="5550"/>
              </a:lnSpc>
              <a:buNone/>
            </a:pPr>
            <a:r>
              <a:rPr lang="en-US" sz="6000" b="1" dirty="0">
                <a:solidFill>
                  <a:srgbClr val="4B6981"/>
                </a:solidFill>
                <a:latin typeface="Playfair Display Semi Bold" pitchFamily="34" charset="0"/>
                <a:ea typeface="Playfair Display Semi Bold" pitchFamily="34" charset="-122"/>
                <a:cs typeface="Playfair Display Semi Bold" pitchFamily="34" charset="-120"/>
              </a:rPr>
              <a:t>Technology Behind the Automation</a:t>
            </a:r>
            <a:endParaRPr lang="en-US" sz="6000" b="1"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988" y="3612056"/>
            <a:ext cx="566976" cy="566976"/>
          </a:xfrm>
          <a:prstGeom prst="rect">
            <a:avLst/>
          </a:prstGeom>
        </p:spPr>
      </p:pic>
      <p:sp>
        <p:nvSpPr>
          <p:cNvPr id="4" name="Text 1"/>
          <p:cNvSpPr/>
          <p:nvPr/>
        </p:nvSpPr>
        <p:spPr>
          <a:xfrm>
            <a:off x="1360766" y="36407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Google Forms</a:t>
            </a:r>
            <a:endParaRPr lang="en-US" sz="2200" dirty="0"/>
          </a:p>
        </p:txBody>
      </p:sp>
      <p:sp>
        <p:nvSpPr>
          <p:cNvPr id="5" name="Text 2"/>
          <p:cNvSpPr/>
          <p:nvPr/>
        </p:nvSpPr>
        <p:spPr>
          <a:xfrm>
            <a:off x="1360766" y="4030772"/>
            <a:ext cx="5529143" cy="725805"/>
          </a:xfrm>
          <a:prstGeom prst="rect">
            <a:avLst/>
          </a:prstGeom>
          <a:noFill/>
          <a:ln/>
        </p:spPr>
        <p:txBody>
          <a:bodyPr wrap="square" lIns="0" tIns="0" rIns="0" bIns="0" rtlCol="0" anchor="t"/>
          <a:lstStyle/>
          <a:p>
            <a:pPr marL="0" indent="0" algn="l">
              <a:lnSpc>
                <a:spcPts val="2850"/>
              </a:lnSpc>
              <a:buNone/>
            </a:pPr>
            <a:r>
              <a:rPr lang="en-US" dirty="0">
                <a:solidFill>
                  <a:srgbClr val="6F655D"/>
                </a:solidFill>
                <a:latin typeface="Public Sans" pitchFamily="34" charset="0"/>
              </a:rPr>
              <a:t>Open google form, add title, add fields like employee name, department </a:t>
            </a:r>
            <a:r>
              <a:rPr lang="en-US" dirty="0" err="1">
                <a:solidFill>
                  <a:srgbClr val="6F655D"/>
                </a:solidFill>
                <a:latin typeface="Public Sans" pitchFamily="34" charset="0"/>
              </a:rPr>
              <a:t>etc</a:t>
            </a:r>
            <a:r>
              <a:rPr lang="en-US" dirty="0">
                <a:solidFill>
                  <a:srgbClr val="6F655D"/>
                </a:solidFill>
                <a:latin typeface="Public Sans" pitchFamily="34" charset="0"/>
              </a:rPr>
              <a:t>, then click link to google sheets, create new sheet as expense tracker data</a:t>
            </a:r>
            <a:endParaRPr lang="en-US"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2418040"/>
            <a:ext cx="566976" cy="566976"/>
          </a:xfrm>
          <a:prstGeom prst="rect">
            <a:avLst/>
          </a:prstGeom>
        </p:spPr>
      </p:pic>
      <p:sp>
        <p:nvSpPr>
          <p:cNvPr id="7" name="Text 3"/>
          <p:cNvSpPr/>
          <p:nvPr/>
        </p:nvSpPr>
        <p:spPr>
          <a:xfrm>
            <a:off x="8307348" y="24180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Google Sheets</a:t>
            </a:r>
            <a:endParaRPr lang="en-US" sz="2200" dirty="0"/>
          </a:p>
        </p:txBody>
      </p:sp>
      <p:sp>
        <p:nvSpPr>
          <p:cNvPr id="8" name="Text 4"/>
          <p:cNvSpPr/>
          <p:nvPr/>
        </p:nvSpPr>
        <p:spPr>
          <a:xfrm>
            <a:off x="8307348" y="2908459"/>
            <a:ext cx="5529263" cy="362903"/>
          </a:xfrm>
          <a:prstGeom prst="rect">
            <a:avLst/>
          </a:prstGeom>
          <a:noFill/>
          <a:ln/>
        </p:spPr>
        <p:txBody>
          <a:bodyPr wrap="none" lIns="0" tIns="0" rIns="0" bIns="0" rtlCol="0" anchor="t"/>
          <a:lstStyle/>
          <a:p>
            <a:pPr marL="0" indent="0" algn="l">
              <a:lnSpc>
                <a:spcPts val="2850"/>
              </a:lnSpc>
              <a:buNone/>
            </a:pPr>
            <a:r>
              <a:rPr lang="en-US" dirty="0">
                <a:solidFill>
                  <a:srgbClr val="6F655D"/>
                </a:solidFill>
                <a:latin typeface="Public Sans" pitchFamily="34" charset="0"/>
                <a:ea typeface="Public Sans" pitchFamily="34" charset="-122"/>
                <a:cs typeface="Public Sans" pitchFamily="34" charset="-120"/>
              </a:rPr>
              <a:t>Live, centralised data storage with full audit history</a:t>
            </a:r>
            <a:endParaRPr lang="en-US"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9988" y="1821162"/>
            <a:ext cx="566976" cy="566976"/>
          </a:xfrm>
          <a:prstGeom prst="rect">
            <a:avLst/>
          </a:prstGeom>
        </p:spPr>
      </p:pic>
      <p:sp>
        <p:nvSpPr>
          <p:cNvPr id="10" name="Text 5"/>
          <p:cNvSpPr/>
          <p:nvPr/>
        </p:nvSpPr>
        <p:spPr>
          <a:xfrm>
            <a:off x="1360766" y="20096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rPr>
              <a:t>Open n8n website </a:t>
            </a:r>
            <a:endParaRPr lang="en-US" sz="2200" dirty="0"/>
          </a:p>
        </p:txBody>
      </p:sp>
      <p:sp>
        <p:nvSpPr>
          <p:cNvPr id="11" name="Text 6"/>
          <p:cNvSpPr/>
          <p:nvPr/>
        </p:nvSpPr>
        <p:spPr>
          <a:xfrm>
            <a:off x="1360766" y="2429523"/>
            <a:ext cx="5529143" cy="725805"/>
          </a:xfrm>
          <a:prstGeom prst="rect">
            <a:avLst/>
          </a:prstGeom>
          <a:noFill/>
          <a:ln/>
        </p:spPr>
        <p:txBody>
          <a:bodyPr wrap="square" lIns="0" tIns="0" rIns="0" bIns="0" rtlCol="0" anchor="t"/>
          <a:lstStyle/>
          <a:p>
            <a:pPr marL="0" indent="0" algn="l">
              <a:lnSpc>
                <a:spcPts val="2850"/>
              </a:lnSpc>
              <a:buNone/>
            </a:pPr>
            <a:r>
              <a:rPr lang="en-US" sz="2000" dirty="0">
                <a:solidFill>
                  <a:schemeClr val="bg2">
                    <a:lumMod val="50000"/>
                  </a:schemeClr>
                </a:solidFill>
              </a:rPr>
              <a:t>Register yourself with an email, verify your email</a:t>
            </a:r>
          </a:p>
          <a:p>
            <a:pPr marL="0" indent="0" algn="l">
              <a:lnSpc>
                <a:spcPts val="2850"/>
              </a:lnSpc>
              <a:buNone/>
            </a:pPr>
            <a:r>
              <a:rPr lang="en-US" sz="2000" dirty="0">
                <a:solidFill>
                  <a:schemeClr val="bg2">
                    <a:lumMod val="50000"/>
                  </a:schemeClr>
                </a:solidFill>
              </a:rPr>
              <a:t>And now dashboard will be opened</a:t>
            </a:r>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4087892"/>
            <a:ext cx="566976" cy="566976"/>
          </a:xfrm>
          <a:prstGeom prst="rect">
            <a:avLst/>
          </a:prstGeom>
        </p:spPr>
      </p:pic>
      <p:sp>
        <p:nvSpPr>
          <p:cNvPr id="13" name="Text 7"/>
          <p:cNvSpPr/>
          <p:nvPr/>
        </p:nvSpPr>
        <p:spPr>
          <a:xfrm>
            <a:off x="8307348" y="408789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Gmail Node</a:t>
            </a:r>
            <a:endParaRPr lang="en-US" sz="2200" dirty="0"/>
          </a:p>
        </p:txBody>
      </p:sp>
      <p:sp>
        <p:nvSpPr>
          <p:cNvPr id="14" name="Text 8"/>
          <p:cNvSpPr/>
          <p:nvPr/>
        </p:nvSpPr>
        <p:spPr>
          <a:xfrm>
            <a:off x="8307348" y="4578310"/>
            <a:ext cx="5529263" cy="725805"/>
          </a:xfrm>
          <a:prstGeom prst="rect">
            <a:avLst/>
          </a:prstGeom>
          <a:noFill/>
          <a:ln/>
        </p:spPr>
        <p:txBody>
          <a:bodyPr wrap="square" lIns="0" tIns="0" rIns="0" bIns="0" rtlCol="0" anchor="t"/>
          <a:lstStyle/>
          <a:p>
            <a:pPr marL="0" indent="0" algn="l">
              <a:lnSpc>
                <a:spcPts val="2850"/>
              </a:lnSpc>
              <a:buNone/>
            </a:pPr>
            <a:r>
              <a:rPr lang="en-US" dirty="0">
                <a:solidFill>
                  <a:srgbClr val="6F655D"/>
                </a:solidFill>
                <a:latin typeface="Public Sans" pitchFamily="34" charset="0"/>
                <a:ea typeface="Public Sans" pitchFamily="34" charset="-122"/>
                <a:cs typeface="Public Sans" pitchFamily="34" charset="-120"/>
              </a:rPr>
              <a:t>Dispatches formatted alert emails to relevant stakeholders</a:t>
            </a:r>
            <a:endParaRPr lang="en-US"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3790" y="5757743"/>
            <a:ext cx="566976" cy="566976"/>
          </a:xfrm>
          <a:prstGeom prst="rect">
            <a:avLst/>
          </a:prstGeom>
        </p:spPr>
      </p:pic>
      <p:sp>
        <p:nvSpPr>
          <p:cNvPr id="16" name="Text 9"/>
          <p:cNvSpPr/>
          <p:nvPr/>
        </p:nvSpPr>
        <p:spPr>
          <a:xfrm>
            <a:off x="1644253" y="57577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Set Node</a:t>
            </a:r>
            <a:endParaRPr lang="en-US" sz="2200" dirty="0"/>
          </a:p>
        </p:txBody>
      </p:sp>
      <p:sp>
        <p:nvSpPr>
          <p:cNvPr id="17" name="Text 10"/>
          <p:cNvSpPr/>
          <p:nvPr/>
        </p:nvSpPr>
        <p:spPr>
          <a:xfrm>
            <a:off x="1644253" y="6248162"/>
            <a:ext cx="5529143" cy="725805"/>
          </a:xfrm>
          <a:prstGeom prst="rect">
            <a:avLst/>
          </a:prstGeom>
          <a:noFill/>
          <a:ln/>
        </p:spPr>
        <p:txBody>
          <a:bodyPr wrap="square" lIns="0" tIns="0" rIns="0" bIns="0" rtlCol="0" anchor="t"/>
          <a:lstStyle/>
          <a:p>
            <a:pPr marL="0" indent="0" algn="l">
              <a:lnSpc>
                <a:spcPts val="2850"/>
              </a:lnSpc>
              <a:buNone/>
            </a:pPr>
            <a:r>
              <a:rPr lang="en-US" dirty="0">
                <a:solidFill>
                  <a:srgbClr val="6F655D"/>
                </a:solidFill>
                <a:latin typeface="Public Sans" pitchFamily="34" charset="0"/>
                <a:ea typeface="Public Sans" pitchFamily="34" charset="-122"/>
                <a:cs typeface="Public Sans" pitchFamily="34" charset="-120"/>
              </a:rPr>
              <a:t>Structures and formats raw form data before processing</a:t>
            </a:r>
            <a:endParaRPr lang="en-US" dirty="0"/>
          </a:p>
        </p:txBody>
      </p:sp>
      <p:pic>
        <p:nvPicPr>
          <p:cNvPr id="18"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56884" y="5757743"/>
            <a:ext cx="566976" cy="566976"/>
          </a:xfrm>
          <a:prstGeom prst="rect">
            <a:avLst/>
          </a:prstGeom>
        </p:spPr>
      </p:pic>
      <p:sp>
        <p:nvSpPr>
          <p:cNvPr id="19" name="Text 11"/>
          <p:cNvSpPr/>
          <p:nvPr/>
        </p:nvSpPr>
        <p:spPr>
          <a:xfrm>
            <a:off x="8307348" y="57577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F655D"/>
                </a:solidFill>
                <a:latin typeface="Playfair Display Semi Bold" pitchFamily="34" charset="0"/>
                <a:ea typeface="Playfair Display Semi Bold" pitchFamily="34" charset="-122"/>
                <a:cs typeface="Playfair Display Semi Bold" pitchFamily="34" charset="-120"/>
              </a:rPr>
              <a:t>If Node</a:t>
            </a:r>
            <a:endParaRPr lang="en-US" sz="2200" dirty="0"/>
          </a:p>
        </p:txBody>
      </p:sp>
      <p:sp>
        <p:nvSpPr>
          <p:cNvPr id="20" name="Text 12"/>
          <p:cNvSpPr/>
          <p:nvPr/>
        </p:nvSpPr>
        <p:spPr>
          <a:xfrm>
            <a:off x="8307348" y="6248162"/>
            <a:ext cx="5529263" cy="725805"/>
          </a:xfrm>
          <a:prstGeom prst="rect">
            <a:avLst/>
          </a:prstGeom>
          <a:noFill/>
          <a:ln/>
        </p:spPr>
        <p:txBody>
          <a:bodyPr wrap="square" lIns="0" tIns="0" rIns="0" bIns="0" rtlCol="0" anchor="t"/>
          <a:lstStyle/>
          <a:p>
            <a:pPr marL="0" indent="0" algn="l">
              <a:lnSpc>
                <a:spcPts val="2850"/>
              </a:lnSpc>
              <a:buNone/>
            </a:pPr>
            <a:r>
              <a:rPr lang="en-US" dirty="0">
                <a:solidFill>
                  <a:srgbClr val="6F655D"/>
                </a:solidFill>
                <a:latin typeface="Public Sans" pitchFamily="34" charset="0"/>
                <a:ea typeface="Public Sans" pitchFamily="34" charset="-122"/>
                <a:cs typeface="Public Sans" pitchFamily="34" charset="-120"/>
              </a:rPr>
              <a:t>Applies conditional logic to route expenses appropriately</a:t>
            </a:r>
            <a:endParaRPr lang="en-US" dirty="0"/>
          </a:p>
        </p:txBody>
      </p:sp>
      <p:sp>
        <p:nvSpPr>
          <p:cNvPr id="21" name="Rectangle: Rounded Corners 20">
            <a:extLst>
              <a:ext uri="{FF2B5EF4-FFF2-40B4-BE49-F238E27FC236}">
                <a16:creationId xmlns:a16="http://schemas.microsoft.com/office/drawing/2014/main" id="{BCE26EF0-5999-1BD9-0B17-692A5FD884D4}"/>
              </a:ext>
            </a:extLst>
          </p:cNvPr>
          <p:cNvSpPr/>
          <p:nvPr/>
        </p:nvSpPr>
        <p:spPr>
          <a:xfrm>
            <a:off x="12789877" y="7702062"/>
            <a:ext cx="1758461" cy="445476"/>
          </a:xfrm>
          <a:prstGeom prst="round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92F97073-6B6D-D118-8497-D8FDD01A0BEB}"/>
              </a:ext>
            </a:extLst>
          </p:cNvPr>
          <p:cNvSpPr txBox="1"/>
          <p:nvPr/>
        </p:nvSpPr>
        <p:spPr>
          <a:xfrm>
            <a:off x="1266981" y="1482418"/>
            <a:ext cx="3797388" cy="461665"/>
          </a:xfrm>
          <a:prstGeom prst="rect">
            <a:avLst/>
          </a:prstGeom>
          <a:noFill/>
        </p:spPr>
        <p:txBody>
          <a:bodyPr wrap="square" rtlCol="0">
            <a:spAutoFit/>
          </a:bodyPr>
          <a:lstStyle/>
          <a:p>
            <a:r>
              <a:rPr lang="en-IN" sz="2400" dirty="0">
                <a:hlinkClick r:id="rId15"/>
              </a:rPr>
              <a:t>n8n Deeksha</a:t>
            </a: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014080" y="647345"/>
            <a:ext cx="12207007" cy="731914"/>
          </a:xfrm>
          <a:prstGeom prst="rect">
            <a:avLst/>
          </a:prstGeom>
          <a:noFill/>
          <a:ln/>
        </p:spPr>
        <p:txBody>
          <a:bodyPr wrap="none" lIns="0" tIns="0" rIns="0" bIns="0" rtlCol="0" anchor="t"/>
          <a:lstStyle/>
          <a:p>
            <a:pPr marL="0" indent="0" algn="l">
              <a:lnSpc>
                <a:spcPts val="4600"/>
              </a:lnSpc>
              <a:buNone/>
            </a:pPr>
            <a:r>
              <a:rPr lang="en-US" sz="3650" dirty="0">
                <a:solidFill>
                  <a:srgbClr val="4B6981"/>
                </a:solidFill>
                <a:latin typeface="Playfair Display Semi Bold" pitchFamily="34" charset="0"/>
                <a:ea typeface="Playfair Display Semi Bold" pitchFamily="34" charset="-122"/>
                <a:cs typeface="Playfair Display Semi Bold" pitchFamily="34" charset="-120"/>
              </a:rPr>
              <a:t>                         </a:t>
            </a:r>
            <a:r>
              <a:rPr lang="en-US" sz="6000" b="1" dirty="0">
                <a:solidFill>
                  <a:srgbClr val="4B6981"/>
                </a:solidFill>
                <a:latin typeface="Playfair Display Semi Bold" pitchFamily="34" charset="0"/>
                <a:ea typeface="Playfair Display Semi Bold" pitchFamily="34" charset="-122"/>
                <a:cs typeface="Playfair Display Semi Bold" pitchFamily="34" charset="-120"/>
              </a:rPr>
              <a:t>                   System Working</a:t>
            </a:r>
            <a:endParaRPr lang="en-US" sz="6000" b="1" dirty="0"/>
          </a:p>
        </p:txBody>
      </p:sp>
      <p:sp>
        <p:nvSpPr>
          <p:cNvPr id="4" name="Text 1"/>
          <p:cNvSpPr/>
          <p:nvPr/>
        </p:nvSpPr>
        <p:spPr>
          <a:xfrm>
            <a:off x="1752888" y="5922078"/>
            <a:ext cx="2916209" cy="364526"/>
          </a:xfrm>
          <a:prstGeom prst="rect">
            <a:avLst/>
          </a:prstGeom>
          <a:noFill/>
          <a:ln/>
        </p:spPr>
        <p:txBody>
          <a:bodyPr wrap="none" lIns="0" tIns="0" rIns="0" bIns="0" rtlCol="0" anchor="t"/>
          <a:lstStyle/>
          <a:p>
            <a:pPr marL="0" indent="0" algn="l">
              <a:lnSpc>
                <a:spcPts val="2850"/>
              </a:lnSpc>
              <a:buNone/>
            </a:pPr>
            <a:endParaRPr lang="en-US" sz="2250" dirty="0"/>
          </a:p>
        </p:txBody>
      </p:sp>
      <p:sp>
        <p:nvSpPr>
          <p:cNvPr id="5" name="Text 2"/>
          <p:cNvSpPr/>
          <p:nvPr/>
        </p:nvSpPr>
        <p:spPr>
          <a:xfrm>
            <a:off x="1752888" y="4638946"/>
            <a:ext cx="2916209" cy="364526"/>
          </a:xfrm>
          <a:prstGeom prst="rect">
            <a:avLst/>
          </a:prstGeom>
          <a:noFill/>
          <a:ln/>
        </p:spPr>
        <p:txBody>
          <a:bodyPr wrap="none" lIns="0" tIns="0" rIns="0" bIns="0" rtlCol="0" anchor="t"/>
          <a:lstStyle/>
          <a:p>
            <a:pPr marL="0" indent="0" algn="l">
              <a:lnSpc>
                <a:spcPts val="2850"/>
              </a:lnSpc>
              <a:buNone/>
            </a:pPr>
            <a:endParaRPr lang="en-US" sz="2250" dirty="0"/>
          </a:p>
        </p:txBody>
      </p:sp>
      <p:sp>
        <p:nvSpPr>
          <p:cNvPr id="6" name="Text 3"/>
          <p:cNvSpPr/>
          <p:nvPr/>
        </p:nvSpPr>
        <p:spPr>
          <a:xfrm>
            <a:off x="1752888" y="3368775"/>
            <a:ext cx="2916209" cy="364526"/>
          </a:xfrm>
          <a:prstGeom prst="rect">
            <a:avLst/>
          </a:prstGeom>
          <a:noFill/>
          <a:ln/>
        </p:spPr>
        <p:txBody>
          <a:bodyPr wrap="none" lIns="0" tIns="0" rIns="0" bIns="0" rtlCol="0" anchor="t"/>
          <a:lstStyle/>
          <a:p>
            <a:pPr marL="0" indent="0" algn="l">
              <a:lnSpc>
                <a:spcPts val="2850"/>
              </a:lnSpc>
              <a:buNone/>
            </a:pPr>
            <a:endParaRPr lang="en-US" sz="2250" dirty="0"/>
          </a:p>
        </p:txBody>
      </p:sp>
      <p:sp>
        <p:nvSpPr>
          <p:cNvPr id="7" name="Text 4"/>
          <p:cNvSpPr/>
          <p:nvPr/>
        </p:nvSpPr>
        <p:spPr>
          <a:xfrm>
            <a:off x="1752888" y="2085643"/>
            <a:ext cx="2916209" cy="364526"/>
          </a:xfrm>
          <a:prstGeom prst="rect">
            <a:avLst/>
          </a:prstGeom>
          <a:noFill/>
          <a:ln/>
        </p:spPr>
        <p:txBody>
          <a:bodyPr wrap="none" lIns="0" tIns="0" rIns="0" bIns="0" rtlCol="0" anchor="t"/>
          <a:lstStyle/>
          <a:p>
            <a:pPr marL="0" indent="0" algn="l">
              <a:lnSpc>
                <a:spcPts val="2850"/>
              </a:lnSpc>
              <a:buNone/>
            </a:pPr>
            <a:endParaRPr lang="en-US" sz="2250" dirty="0"/>
          </a:p>
        </p:txBody>
      </p:sp>
      <p:sp>
        <p:nvSpPr>
          <p:cNvPr id="8" name="Text 5"/>
          <p:cNvSpPr/>
          <p:nvPr/>
        </p:nvSpPr>
        <p:spPr>
          <a:xfrm>
            <a:off x="834628" y="7148155"/>
            <a:ext cx="12961025" cy="549354"/>
          </a:xfrm>
          <a:prstGeom prst="rect">
            <a:avLst/>
          </a:prstGeom>
          <a:noFill/>
          <a:ln/>
        </p:spPr>
        <p:txBody>
          <a:bodyPr wrap="square" lIns="0" tIns="0" rIns="0" bIns="0" rtlCol="0" anchor="t"/>
          <a:lstStyle/>
          <a:p>
            <a:pPr marL="0" indent="0" algn="l">
              <a:lnSpc>
                <a:spcPts val="2150"/>
              </a:lnSpc>
              <a:buNone/>
            </a:pPr>
            <a:endParaRPr lang="en-US" sz="1450" dirty="0"/>
          </a:p>
        </p:txBody>
      </p:sp>
      <p:sp>
        <p:nvSpPr>
          <p:cNvPr id="9" name="Rectangle: Rounded Corners 8">
            <a:extLst>
              <a:ext uri="{FF2B5EF4-FFF2-40B4-BE49-F238E27FC236}">
                <a16:creationId xmlns:a16="http://schemas.microsoft.com/office/drawing/2014/main" id="{1D011A2A-DDAE-87F5-B13A-534CC01BBB4B}"/>
              </a:ext>
            </a:extLst>
          </p:cNvPr>
          <p:cNvSpPr/>
          <p:nvPr/>
        </p:nvSpPr>
        <p:spPr>
          <a:xfrm>
            <a:off x="12801600" y="7697509"/>
            <a:ext cx="1735015" cy="450029"/>
          </a:xfrm>
          <a:prstGeom prst="round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A18EF556-1189-7393-48BA-09A89D8C48D0}"/>
              </a:ext>
            </a:extLst>
          </p:cNvPr>
          <p:cNvPicPr>
            <a:picLocks noChangeAspect="1"/>
          </p:cNvPicPr>
          <p:nvPr/>
        </p:nvPicPr>
        <p:blipFill>
          <a:blip r:embed="rId3"/>
          <a:stretch>
            <a:fillRect/>
          </a:stretch>
        </p:blipFill>
        <p:spPr>
          <a:xfrm>
            <a:off x="9823938" y="2426723"/>
            <a:ext cx="4806461" cy="4079630"/>
          </a:xfrm>
          <a:prstGeom prst="rect">
            <a:avLst/>
          </a:prstGeom>
        </p:spPr>
      </p:pic>
      <p:pic>
        <p:nvPicPr>
          <p:cNvPr id="10" name="Picture 9">
            <a:extLst>
              <a:ext uri="{FF2B5EF4-FFF2-40B4-BE49-F238E27FC236}">
                <a16:creationId xmlns:a16="http://schemas.microsoft.com/office/drawing/2014/main" id="{7673360C-AADE-42D8-13E6-BCA19A8BCB8B}"/>
              </a:ext>
            </a:extLst>
          </p:cNvPr>
          <p:cNvPicPr>
            <a:picLocks noChangeAspect="1"/>
          </p:cNvPicPr>
          <p:nvPr/>
        </p:nvPicPr>
        <p:blipFill>
          <a:blip r:embed="rId4"/>
          <a:stretch>
            <a:fillRect/>
          </a:stretch>
        </p:blipFill>
        <p:spPr>
          <a:xfrm>
            <a:off x="697523" y="1773286"/>
            <a:ext cx="8944708" cy="50313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629901-E961-8807-0E71-2297FFC3FFF6}"/>
              </a:ext>
            </a:extLst>
          </p:cNvPr>
          <p:cNvPicPr>
            <a:picLocks noChangeAspect="1"/>
          </p:cNvPicPr>
          <p:nvPr/>
        </p:nvPicPr>
        <p:blipFill>
          <a:blip r:embed="rId2"/>
          <a:stretch>
            <a:fillRect/>
          </a:stretch>
        </p:blipFill>
        <p:spPr>
          <a:xfrm>
            <a:off x="1194435" y="662226"/>
            <a:ext cx="12241530" cy="6885860"/>
          </a:xfrm>
          <a:prstGeom prst="rect">
            <a:avLst/>
          </a:prstGeom>
        </p:spPr>
      </p:pic>
    </p:spTree>
    <p:extLst>
      <p:ext uri="{BB962C8B-B14F-4D97-AF65-F5344CB8AC3E}">
        <p14:creationId xmlns:p14="http://schemas.microsoft.com/office/powerpoint/2010/main" val="1838687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6642" y="635556"/>
            <a:ext cx="5404842" cy="675680"/>
          </a:xfrm>
          <a:prstGeom prst="rect">
            <a:avLst/>
          </a:prstGeom>
          <a:noFill/>
          <a:ln/>
        </p:spPr>
        <p:txBody>
          <a:bodyPr wrap="none" lIns="0" tIns="0" rIns="0" bIns="0" rtlCol="0" anchor="t"/>
          <a:lstStyle/>
          <a:p>
            <a:pPr marL="0" indent="0" algn="l">
              <a:lnSpc>
                <a:spcPts val="5300"/>
              </a:lnSpc>
              <a:buNone/>
            </a:pPr>
            <a:r>
              <a:rPr lang="en-US" sz="4250" dirty="0">
                <a:solidFill>
                  <a:srgbClr val="4B6981"/>
                </a:solidFill>
                <a:latin typeface="Playfair Display Semi Bold" pitchFamily="34" charset="0"/>
                <a:ea typeface="Playfair Display Semi Bold" pitchFamily="34" charset="-122"/>
                <a:cs typeface="Playfair Display Semi Bold" pitchFamily="34" charset="-120"/>
              </a:rPr>
              <a:t>Results That Matter</a:t>
            </a:r>
            <a:endParaRPr lang="en-US" sz="4250" dirty="0"/>
          </a:p>
        </p:txBody>
      </p:sp>
      <p:sp>
        <p:nvSpPr>
          <p:cNvPr id="3" name="Text 1"/>
          <p:cNvSpPr/>
          <p:nvPr/>
        </p:nvSpPr>
        <p:spPr>
          <a:xfrm>
            <a:off x="756642" y="1723311"/>
            <a:ext cx="13117116" cy="337780"/>
          </a:xfrm>
          <a:prstGeom prst="rect">
            <a:avLst/>
          </a:prstGeom>
          <a:noFill/>
          <a:ln/>
        </p:spPr>
        <p:txBody>
          <a:bodyPr wrap="none" lIns="0" tIns="0" rIns="0" bIns="0" rtlCol="0" anchor="t"/>
          <a:lstStyle/>
          <a:p>
            <a:pPr marL="0" indent="0" algn="l">
              <a:lnSpc>
                <a:spcPts val="2650"/>
              </a:lnSpc>
              <a:buNone/>
            </a:pPr>
            <a:r>
              <a:rPr lang="en-US" dirty="0">
                <a:solidFill>
                  <a:srgbClr val="6F655D"/>
                </a:solidFill>
                <a:latin typeface="Public Sans" pitchFamily="34" charset="0"/>
                <a:ea typeface="Public Sans" pitchFamily="34" charset="-122"/>
                <a:cs typeface="Public Sans" pitchFamily="34" charset="-120"/>
              </a:rPr>
              <a:t>The automated pipeline delivers measurable improvements across every stage of the expense management lifecycle.</a:t>
            </a:r>
            <a:endParaRPr lang="en-US" dirty="0"/>
          </a:p>
        </p:txBody>
      </p:sp>
      <p:sp>
        <p:nvSpPr>
          <p:cNvPr id="4" name="Text 2"/>
          <p:cNvSpPr/>
          <p:nvPr/>
        </p:nvSpPr>
        <p:spPr>
          <a:xfrm>
            <a:off x="756642" y="2400895"/>
            <a:ext cx="6429732" cy="713422"/>
          </a:xfrm>
          <a:prstGeom prst="rect">
            <a:avLst/>
          </a:prstGeom>
          <a:noFill/>
          <a:ln/>
        </p:spPr>
        <p:txBody>
          <a:bodyPr wrap="none" lIns="0" tIns="0" rIns="0" bIns="0" rtlCol="0" anchor="t"/>
          <a:lstStyle/>
          <a:p>
            <a:pPr marL="0" indent="0" algn="ctr">
              <a:lnSpc>
                <a:spcPts val="5600"/>
              </a:lnSpc>
              <a:buNone/>
            </a:pPr>
            <a:r>
              <a:rPr lang="en-US" sz="5600" dirty="0">
                <a:solidFill>
                  <a:srgbClr val="6F655D"/>
                </a:solidFill>
                <a:latin typeface="Playfair Display Semi Bold" pitchFamily="34" charset="0"/>
                <a:ea typeface="Playfair Display Semi Bold" pitchFamily="34" charset="-122"/>
                <a:cs typeface="Playfair Display Semi Bold" pitchFamily="34" charset="-120"/>
              </a:rPr>
              <a:t>100%</a:t>
            </a:r>
            <a:endParaRPr lang="en-US" sz="5600" dirty="0"/>
          </a:p>
        </p:txBody>
      </p:sp>
      <p:sp>
        <p:nvSpPr>
          <p:cNvPr id="5" name="Text 3"/>
          <p:cNvSpPr/>
          <p:nvPr/>
        </p:nvSpPr>
        <p:spPr>
          <a:xfrm>
            <a:off x="2620328" y="3376851"/>
            <a:ext cx="2702362" cy="337780"/>
          </a:xfrm>
          <a:prstGeom prst="rect">
            <a:avLst/>
          </a:prstGeom>
          <a:noFill/>
          <a:ln/>
        </p:spPr>
        <p:txBody>
          <a:bodyPr wrap="none" lIns="0" tIns="0" rIns="0" bIns="0" rtlCol="0" anchor="t"/>
          <a:lstStyle/>
          <a:p>
            <a:pPr marL="0" indent="0" algn="ctr">
              <a:lnSpc>
                <a:spcPts val="2650"/>
              </a:lnSpc>
              <a:buNone/>
            </a:pPr>
            <a:r>
              <a:rPr lang="en-US" sz="2100" dirty="0">
                <a:solidFill>
                  <a:srgbClr val="6F655D"/>
                </a:solidFill>
                <a:latin typeface="Playfair Display Semi Bold" pitchFamily="34" charset="0"/>
                <a:ea typeface="Playfair Display Semi Bold" pitchFamily="34" charset="-122"/>
                <a:cs typeface="Playfair Display Semi Bold" pitchFamily="34" charset="-120"/>
              </a:rPr>
              <a:t>Auto-Logged</a:t>
            </a:r>
            <a:endParaRPr lang="en-US" sz="2100" dirty="0"/>
          </a:p>
        </p:txBody>
      </p:sp>
      <p:sp>
        <p:nvSpPr>
          <p:cNvPr id="6" name="Text 4"/>
          <p:cNvSpPr/>
          <p:nvPr/>
        </p:nvSpPr>
        <p:spPr>
          <a:xfrm>
            <a:off x="756642" y="3838218"/>
            <a:ext cx="6429732" cy="337780"/>
          </a:xfrm>
          <a:prstGeom prst="rect">
            <a:avLst/>
          </a:prstGeom>
          <a:noFill/>
          <a:ln/>
        </p:spPr>
        <p:txBody>
          <a:bodyPr wrap="none" lIns="0" tIns="0" rIns="0" bIns="0" rtlCol="0" anchor="t"/>
          <a:lstStyle/>
          <a:p>
            <a:pPr marL="0" indent="0" algn="ctr">
              <a:lnSpc>
                <a:spcPts val="2650"/>
              </a:lnSpc>
              <a:buNone/>
            </a:pPr>
            <a:r>
              <a:rPr lang="en-US" sz="1700" dirty="0">
                <a:solidFill>
                  <a:srgbClr val="6F655D"/>
                </a:solidFill>
                <a:latin typeface="Public Sans" pitchFamily="34" charset="0"/>
                <a:ea typeface="Public Sans" pitchFamily="34" charset="-122"/>
                <a:cs typeface="Public Sans" pitchFamily="34" charset="-120"/>
              </a:rPr>
              <a:t>Every submission captured without manual entry</a:t>
            </a:r>
            <a:endParaRPr lang="en-US" sz="1700" dirty="0"/>
          </a:p>
        </p:txBody>
      </p:sp>
      <p:sp>
        <p:nvSpPr>
          <p:cNvPr id="7" name="Text 5"/>
          <p:cNvSpPr/>
          <p:nvPr/>
        </p:nvSpPr>
        <p:spPr>
          <a:xfrm>
            <a:off x="7443907" y="2400895"/>
            <a:ext cx="6429851" cy="713422"/>
          </a:xfrm>
          <a:prstGeom prst="rect">
            <a:avLst/>
          </a:prstGeom>
          <a:noFill/>
          <a:ln/>
        </p:spPr>
        <p:txBody>
          <a:bodyPr wrap="none" lIns="0" tIns="0" rIns="0" bIns="0" rtlCol="0" anchor="t"/>
          <a:lstStyle/>
          <a:p>
            <a:pPr marL="0" indent="0" algn="ctr">
              <a:lnSpc>
                <a:spcPts val="5600"/>
              </a:lnSpc>
              <a:buNone/>
            </a:pPr>
            <a:r>
              <a:rPr lang="en-US" sz="5600" dirty="0">
                <a:solidFill>
                  <a:srgbClr val="6F655D"/>
                </a:solidFill>
                <a:latin typeface="Playfair Display Semi Bold" pitchFamily="34" charset="0"/>
                <a:ea typeface="Playfair Display Semi Bold" pitchFamily="34" charset="-122"/>
                <a:cs typeface="Playfair Display Semi Bold" pitchFamily="34" charset="-120"/>
              </a:rPr>
              <a:t>0</a:t>
            </a:r>
            <a:endParaRPr lang="en-US" sz="5600" dirty="0"/>
          </a:p>
        </p:txBody>
      </p:sp>
      <p:sp>
        <p:nvSpPr>
          <p:cNvPr id="8" name="Text 6"/>
          <p:cNvSpPr/>
          <p:nvPr/>
        </p:nvSpPr>
        <p:spPr>
          <a:xfrm>
            <a:off x="9307592" y="3376851"/>
            <a:ext cx="2702362" cy="337780"/>
          </a:xfrm>
          <a:prstGeom prst="rect">
            <a:avLst/>
          </a:prstGeom>
          <a:noFill/>
          <a:ln/>
        </p:spPr>
        <p:txBody>
          <a:bodyPr wrap="none" lIns="0" tIns="0" rIns="0" bIns="0" rtlCol="0" anchor="t"/>
          <a:lstStyle/>
          <a:p>
            <a:pPr marL="0" indent="0" algn="ctr">
              <a:lnSpc>
                <a:spcPts val="2650"/>
              </a:lnSpc>
              <a:buNone/>
            </a:pPr>
            <a:r>
              <a:rPr lang="en-US" sz="2100" dirty="0">
                <a:solidFill>
                  <a:srgbClr val="6F655D"/>
                </a:solidFill>
                <a:latin typeface="Playfair Display Semi Bold" pitchFamily="34" charset="0"/>
                <a:ea typeface="Playfair Display Semi Bold" pitchFamily="34" charset="-122"/>
                <a:cs typeface="Playfair Display Semi Bold" pitchFamily="34" charset="-120"/>
              </a:rPr>
              <a:t>Manual Steps</a:t>
            </a:r>
            <a:endParaRPr lang="en-US" sz="2100" dirty="0"/>
          </a:p>
        </p:txBody>
      </p:sp>
      <p:sp>
        <p:nvSpPr>
          <p:cNvPr id="9" name="Text 7"/>
          <p:cNvSpPr/>
          <p:nvPr/>
        </p:nvSpPr>
        <p:spPr>
          <a:xfrm>
            <a:off x="7443907" y="3838218"/>
            <a:ext cx="6429851" cy="337780"/>
          </a:xfrm>
          <a:prstGeom prst="rect">
            <a:avLst/>
          </a:prstGeom>
          <a:noFill/>
          <a:ln/>
        </p:spPr>
        <p:txBody>
          <a:bodyPr wrap="none" lIns="0" tIns="0" rIns="0" bIns="0" rtlCol="0" anchor="t"/>
          <a:lstStyle/>
          <a:p>
            <a:pPr marL="0" indent="0" algn="ctr">
              <a:lnSpc>
                <a:spcPts val="2650"/>
              </a:lnSpc>
              <a:buNone/>
            </a:pPr>
            <a:r>
              <a:rPr lang="en-US" sz="1700" dirty="0">
                <a:solidFill>
                  <a:srgbClr val="6F655D"/>
                </a:solidFill>
                <a:latin typeface="Public Sans" pitchFamily="34" charset="0"/>
                <a:ea typeface="Public Sans" pitchFamily="34" charset="-122"/>
                <a:cs typeface="Public Sans" pitchFamily="34" charset="-120"/>
              </a:rPr>
              <a:t>Post-submission workflow is fully hands-free</a:t>
            </a:r>
            <a:endParaRPr lang="en-US" sz="1700" dirty="0"/>
          </a:p>
        </p:txBody>
      </p:sp>
      <p:sp>
        <p:nvSpPr>
          <p:cNvPr id="10" name="Text 8"/>
          <p:cNvSpPr/>
          <p:nvPr/>
        </p:nvSpPr>
        <p:spPr>
          <a:xfrm>
            <a:off x="756642" y="4696063"/>
            <a:ext cx="6429732" cy="713422"/>
          </a:xfrm>
          <a:prstGeom prst="rect">
            <a:avLst/>
          </a:prstGeom>
          <a:noFill/>
          <a:ln/>
        </p:spPr>
        <p:txBody>
          <a:bodyPr wrap="none" lIns="0" tIns="0" rIns="0" bIns="0" rtlCol="0" anchor="t"/>
          <a:lstStyle/>
          <a:p>
            <a:pPr marL="0" indent="0" algn="ctr">
              <a:lnSpc>
                <a:spcPts val="5600"/>
              </a:lnSpc>
              <a:buNone/>
            </a:pPr>
            <a:r>
              <a:rPr lang="en-US" sz="5600" dirty="0">
                <a:solidFill>
                  <a:srgbClr val="6F655D"/>
                </a:solidFill>
                <a:latin typeface="Playfair Display Semi Bold" pitchFamily="34" charset="0"/>
                <a:ea typeface="Playfair Display Semi Bold" pitchFamily="34" charset="-122"/>
                <a:cs typeface="Playfair Display Semi Bold" pitchFamily="34" charset="-120"/>
              </a:rPr>
              <a:t>Real-Time</a:t>
            </a:r>
            <a:endParaRPr lang="en-US" sz="5600" dirty="0"/>
          </a:p>
        </p:txBody>
      </p:sp>
      <p:sp>
        <p:nvSpPr>
          <p:cNvPr id="11" name="Text 9"/>
          <p:cNvSpPr/>
          <p:nvPr/>
        </p:nvSpPr>
        <p:spPr>
          <a:xfrm>
            <a:off x="2620328" y="5672018"/>
            <a:ext cx="2702362" cy="337780"/>
          </a:xfrm>
          <a:prstGeom prst="rect">
            <a:avLst/>
          </a:prstGeom>
          <a:noFill/>
          <a:ln/>
        </p:spPr>
        <p:txBody>
          <a:bodyPr wrap="none" lIns="0" tIns="0" rIns="0" bIns="0" rtlCol="0" anchor="t"/>
          <a:lstStyle/>
          <a:p>
            <a:pPr marL="0" indent="0" algn="ctr">
              <a:lnSpc>
                <a:spcPts val="2650"/>
              </a:lnSpc>
              <a:buNone/>
            </a:pPr>
            <a:r>
              <a:rPr lang="en-US" sz="2100" dirty="0">
                <a:solidFill>
                  <a:srgbClr val="6F655D"/>
                </a:solidFill>
                <a:latin typeface="Playfair Display Semi Bold" pitchFamily="34" charset="0"/>
                <a:ea typeface="Playfair Display Semi Bold" pitchFamily="34" charset="-122"/>
                <a:cs typeface="Playfair Display Semi Bold" pitchFamily="34" charset="-120"/>
              </a:rPr>
              <a:t>Visibility</a:t>
            </a:r>
            <a:endParaRPr lang="en-US" sz="2100" dirty="0"/>
          </a:p>
        </p:txBody>
      </p:sp>
      <p:sp>
        <p:nvSpPr>
          <p:cNvPr id="12" name="Text 10"/>
          <p:cNvSpPr/>
          <p:nvPr/>
        </p:nvSpPr>
        <p:spPr>
          <a:xfrm>
            <a:off x="756642" y="6133386"/>
            <a:ext cx="6429732" cy="337780"/>
          </a:xfrm>
          <a:prstGeom prst="rect">
            <a:avLst/>
          </a:prstGeom>
          <a:noFill/>
          <a:ln/>
        </p:spPr>
        <p:txBody>
          <a:bodyPr wrap="none" lIns="0" tIns="0" rIns="0" bIns="0" rtlCol="0" anchor="t"/>
          <a:lstStyle/>
          <a:p>
            <a:pPr marL="0" indent="0" algn="ctr">
              <a:lnSpc>
                <a:spcPts val="2650"/>
              </a:lnSpc>
              <a:buNone/>
            </a:pPr>
            <a:r>
              <a:rPr lang="en-US" sz="1700" dirty="0">
                <a:solidFill>
                  <a:srgbClr val="6F655D"/>
                </a:solidFill>
                <a:latin typeface="Public Sans" pitchFamily="34" charset="0"/>
                <a:ea typeface="Public Sans" pitchFamily="34" charset="-122"/>
                <a:cs typeface="Public Sans" pitchFamily="34" charset="-120"/>
              </a:rPr>
              <a:t>Live tracking of all expense records</a:t>
            </a:r>
            <a:endParaRPr lang="en-US" sz="1700" dirty="0"/>
          </a:p>
        </p:txBody>
      </p:sp>
      <p:sp>
        <p:nvSpPr>
          <p:cNvPr id="13" name="Text 11"/>
          <p:cNvSpPr/>
          <p:nvPr/>
        </p:nvSpPr>
        <p:spPr>
          <a:xfrm>
            <a:off x="7443907" y="4696063"/>
            <a:ext cx="6429851" cy="713422"/>
          </a:xfrm>
          <a:prstGeom prst="rect">
            <a:avLst/>
          </a:prstGeom>
          <a:noFill/>
          <a:ln/>
        </p:spPr>
        <p:txBody>
          <a:bodyPr wrap="none" lIns="0" tIns="0" rIns="0" bIns="0" rtlCol="0" anchor="t"/>
          <a:lstStyle/>
          <a:p>
            <a:pPr marL="0" indent="0" algn="ctr">
              <a:lnSpc>
                <a:spcPts val="5600"/>
              </a:lnSpc>
              <a:buNone/>
            </a:pPr>
            <a:r>
              <a:rPr lang="en-US" sz="5600" dirty="0">
                <a:solidFill>
                  <a:srgbClr val="6F655D"/>
                </a:solidFill>
                <a:latin typeface="Playfair Display Semi Bold" pitchFamily="34" charset="0"/>
                <a:ea typeface="Playfair Display Semi Bold" pitchFamily="34" charset="-122"/>
                <a:cs typeface="Playfair Display Semi Bold" pitchFamily="34" charset="-120"/>
              </a:rPr>
              <a:t>↑</a:t>
            </a:r>
            <a:endParaRPr lang="en-US" sz="5600" dirty="0"/>
          </a:p>
        </p:txBody>
      </p:sp>
      <p:sp>
        <p:nvSpPr>
          <p:cNvPr id="14" name="Text 12"/>
          <p:cNvSpPr/>
          <p:nvPr/>
        </p:nvSpPr>
        <p:spPr>
          <a:xfrm>
            <a:off x="9307592" y="5672018"/>
            <a:ext cx="2702362" cy="337780"/>
          </a:xfrm>
          <a:prstGeom prst="rect">
            <a:avLst/>
          </a:prstGeom>
          <a:noFill/>
          <a:ln/>
        </p:spPr>
        <p:txBody>
          <a:bodyPr wrap="none" lIns="0" tIns="0" rIns="0" bIns="0" rtlCol="0" anchor="t"/>
          <a:lstStyle/>
          <a:p>
            <a:pPr marL="0" indent="0" algn="ctr">
              <a:lnSpc>
                <a:spcPts val="2650"/>
              </a:lnSpc>
              <a:buNone/>
            </a:pPr>
            <a:r>
              <a:rPr lang="en-US" sz="2100" dirty="0">
                <a:solidFill>
                  <a:srgbClr val="6F655D"/>
                </a:solidFill>
                <a:latin typeface="Playfair Display Semi Bold" pitchFamily="34" charset="0"/>
                <a:ea typeface="Playfair Display Semi Bold" pitchFamily="34" charset="-122"/>
                <a:cs typeface="Playfair Display Semi Bold" pitchFamily="34" charset="-120"/>
              </a:rPr>
              <a:t>Efficiency</a:t>
            </a:r>
            <a:endParaRPr lang="en-US" sz="2100" dirty="0"/>
          </a:p>
        </p:txBody>
      </p:sp>
      <p:sp>
        <p:nvSpPr>
          <p:cNvPr id="15" name="Text 13"/>
          <p:cNvSpPr/>
          <p:nvPr/>
        </p:nvSpPr>
        <p:spPr>
          <a:xfrm>
            <a:off x="7443907" y="6133386"/>
            <a:ext cx="6429851" cy="337780"/>
          </a:xfrm>
          <a:prstGeom prst="rect">
            <a:avLst/>
          </a:prstGeom>
          <a:noFill/>
          <a:ln/>
        </p:spPr>
        <p:txBody>
          <a:bodyPr wrap="none" lIns="0" tIns="0" rIns="0" bIns="0" rtlCol="0" anchor="t"/>
          <a:lstStyle/>
          <a:p>
            <a:pPr marL="0" indent="0" algn="ctr">
              <a:lnSpc>
                <a:spcPts val="2650"/>
              </a:lnSpc>
              <a:buNone/>
            </a:pPr>
            <a:r>
              <a:rPr lang="en-US" sz="1700" dirty="0">
                <a:solidFill>
                  <a:srgbClr val="6F655D"/>
                </a:solidFill>
                <a:latin typeface="Public Sans" pitchFamily="34" charset="0"/>
                <a:ea typeface="Public Sans" pitchFamily="34" charset="-122"/>
                <a:cs typeface="Public Sans" pitchFamily="34" charset="-120"/>
              </a:rPr>
              <a:t>Faster processing, fewer errors, better decisions</a:t>
            </a:r>
            <a:endParaRPr lang="en-US" sz="1700" dirty="0"/>
          </a:p>
        </p:txBody>
      </p:sp>
      <p:sp>
        <p:nvSpPr>
          <p:cNvPr id="16" name="Shape 14"/>
          <p:cNvSpPr/>
          <p:nvPr/>
        </p:nvSpPr>
        <p:spPr>
          <a:xfrm>
            <a:off x="756642" y="6702981"/>
            <a:ext cx="13117116" cy="891064"/>
          </a:xfrm>
          <a:prstGeom prst="roundRect">
            <a:avLst>
              <a:gd name="adj" fmla="val 10190"/>
            </a:avLst>
          </a:prstGeom>
          <a:solidFill>
            <a:srgbClr val="B6FCB8"/>
          </a:solidFill>
          <a:ln/>
        </p:spPr>
      </p:sp>
      <p:pic>
        <p:nvPicPr>
          <p:cNvPr id="17" name="Image 0" descr="preencoded.png"/>
          <p:cNvPicPr>
            <a:picLocks noChangeAspect="1"/>
          </p:cNvPicPr>
          <p:nvPr/>
        </p:nvPicPr>
        <p:blipFill>
          <a:blip r:embed="rId3"/>
          <a:stretch>
            <a:fillRect/>
          </a:stretch>
        </p:blipFill>
        <p:spPr>
          <a:xfrm>
            <a:off x="972741" y="7027664"/>
            <a:ext cx="270153" cy="216098"/>
          </a:xfrm>
          <a:prstGeom prst="rect">
            <a:avLst/>
          </a:prstGeom>
        </p:spPr>
      </p:pic>
      <p:sp>
        <p:nvSpPr>
          <p:cNvPr id="18" name="Text 15"/>
          <p:cNvSpPr/>
          <p:nvPr/>
        </p:nvSpPr>
        <p:spPr>
          <a:xfrm>
            <a:off x="1458992" y="6962894"/>
            <a:ext cx="12198668" cy="337780"/>
          </a:xfrm>
          <a:prstGeom prst="rect">
            <a:avLst/>
          </a:prstGeom>
          <a:noFill/>
          <a:ln/>
        </p:spPr>
        <p:txBody>
          <a:bodyPr wrap="none" lIns="0" tIns="0" rIns="0" bIns="0" rtlCol="0" anchor="t"/>
          <a:lstStyle/>
          <a:p>
            <a:pPr marL="0" indent="0" algn="l">
              <a:lnSpc>
                <a:spcPts val="2650"/>
              </a:lnSpc>
              <a:buNone/>
            </a:pPr>
            <a:r>
              <a:rPr lang="en-US" sz="1700" dirty="0">
                <a:solidFill>
                  <a:srgbClr val="000000"/>
                </a:solidFill>
                <a:latin typeface="Public Sans" pitchFamily="34" charset="0"/>
                <a:ea typeface="Public Sans" pitchFamily="34" charset="-122"/>
                <a:cs typeface="Public Sans" pitchFamily="34" charset="-120"/>
              </a:rPr>
              <a:t>From form submission to email alert — the entire workflow completes in seconds, not days.</a:t>
            </a:r>
            <a:endParaRPr lang="en-US" sz="1700" dirty="0"/>
          </a:p>
        </p:txBody>
      </p:sp>
      <p:sp>
        <p:nvSpPr>
          <p:cNvPr id="19" name="Rectangle: Rounded Corners 18">
            <a:extLst>
              <a:ext uri="{FF2B5EF4-FFF2-40B4-BE49-F238E27FC236}">
                <a16:creationId xmlns:a16="http://schemas.microsoft.com/office/drawing/2014/main" id="{C171989D-4B73-603A-CDBD-98EEAB9D0260}"/>
              </a:ext>
            </a:extLst>
          </p:cNvPr>
          <p:cNvSpPr/>
          <p:nvPr/>
        </p:nvSpPr>
        <p:spPr>
          <a:xfrm>
            <a:off x="12789877" y="7713784"/>
            <a:ext cx="1758461" cy="433753"/>
          </a:xfrm>
          <a:prstGeom prst="round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AF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35040" cy="8229600"/>
          </a:xfrm>
          <a:prstGeom prst="rect">
            <a:avLst/>
          </a:prstGeom>
        </p:spPr>
      </p:pic>
      <p:sp>
        <p:nvSpPr>
          <p:cNvPr id="3" name="Text 0"/>
          <p:cNvSpPr/>
          <p:nvPr/>
        </p:nvSpPr>
        <p:spPr>
          <a:xfrm>
            <a:off x="6243042" y="611624"/>
            <a:ext cx="7630716" cy="1351359"/>
          </a:xfrm>
          <a:prstGeom prst="rect">
            <a:avLst/>
          </a:prstGeom>
          <a:noFill/>
          <a:ln/>
        </p:spPr>
        <p:txBody>
          <a:bodyPr wrap="square" lIns="0" tIns="0" rIns="0" bIns="0" rtlCol="0" anchor="t"/>
          <a:lstStyle/>
          <a:p>
            <a:pPr marL="0" indent="0" algn="l">
              <a:lnSpc>
                <a:spcPts val="5300"/>
              </a:lnSpc>
              <a:buNone/>
            </a:pPr>
            <a:r>
              <a:rPr lang="en-US" sz="4250" dirty="0">
                <a:solidFill>
                  <a:srgbClr val="4B6981"/>
                </a:solidFill>
                <a:latin typeface="Playfair Display Semi Bold" pitchFamily="34" charset="0"/>
                <a:ea typeface="Playfair Display Semi Bold" pitchFamily="34" charset="-122"/>
                <a:cs typeface="Playfair Display Semi Bold" pitchFamily="34" charset="-120"/>
              </a:rPr>
              <a:t>Automation = The Future of Finance</a:t>
            </a:r>
            <a:endParaRPr lang="en-US" sz="4250" dirty="0"/>
          </a:p>
        </p:txBody>
      </p:sp>
      <p:sp>
        <p:nvSpPr>
          <p:cNvPr id="4" name="Text 1"/>
          <p:cNvSpPr/>
          <p:nvPr/>
        </p:nvSpPr>
        <p:spPr>
          <a:xfrm>
            <a:off x="6243042" y="2283793"/>
            <a:ext cx="7630716" cy="675561"/>
          </a:xfrm>
          <a:prstGeom prst="rect">
            <a:avLst/>
          </a:prstGeom>
          <a:noFill/>
          <a:ln/>
        </p:spPr>
        <p:txBody>
          <a:bodyPr wrap="square" lIns="0" tIns="0" rIns="0" bIns="0" rtlCol="0" anchor="t"/>
          <a:lstStyle/>
          <a:p>
            <a:pPr marL="0" indent="0" algn="l">
              <a:lnSpc>
                <a:spcPts val="2650"/>
              </a:lnSpc>
              <a:buNone/>
            </a:pPr>
            <a:r>
              <a:rPr lang="en-US" sz="1700" dirty="0">
                <a:solidFill>
                  <a:srgbClr val="6F655D"/>
                </a:solidFill>
                <a:latin typeface="Public Sans" pitchFamily="34" charset="0"/>
                <a:ea typeface="Public Sans" pitchFamily="34" charset="-122"/>
                <a:cs typeface="Public Sans" pitchFamily="34" charset="-120"/>
              </a:rPr>
              <a:t>This project demonstrates how low-code tools can solve real business problems — efficiently and at scale.</a:t>
            </a:r>
            <a:endParaRPr lang="en-US" sz="1700" dirty="0"/>
          </a:p>
        </p:txBody>
      </p:sp>
      <p:sp>
        <p:nvSpPr>
          <p:cNvPr id="5" name="Shape 2"/>
          <p:cNvSpPr/>
          <p:nvPr/>
        </p:nvSpPr>
        <p:spPr>
          <a:xfrm>
            <a:off x="6243042" y="3179445"/>
            <a:ext cx="3712369" cy="1599605"/>
          </a:xfrm>
          <a:prstGeom prst="roundRect">
            <a:avLst>
              <a:gd name="adj" fmla="val 5677"/>
            </a:avLst>
          </a:prstGeom>
          <a:solidFill>
            <a:srgbClr val="E1C2C2">
              <a:alpha val="50000"/>
            </a:srgbClr>
          </a:solidFill>
          <a:ln w="7620">
            <a:solidFill>
              <a:srgbClr val="C7A8A8"/>
            </a:solidFill>
            <a:prstDash val="solid"/>
          </a:ln>
          <a:effectLst>
            <a:outerShdw dist="27940" dir="2700000" algn="bl" rotWithShape="0">
              <a:srgbClr val="C7A8A8">
                <a:alpha val="100000"/>
              </a:srgbClr>
            </a:outerShdw>
          </a:effectLst>
        </p:spPr>
      </p:sp>
      <p:sp>
        <p:nvSpPr>
          <p:cNvPr id="6" name="Text 3"/>
          <p:cNvSpPr/>
          <p:nvPr/>
        </p:nvSpPr>
        <p:spPr>
          <a:xfrm>
            <a:off x="6466761" y="3403163"/>
            <a:ext cx="2702362" cy="353020"/>
          </a:xfrm>
          <a:prstGeom prst="rect">
            <a:avLst/>
          </a:prstGeom>
          <a:noFill/>
          <a:ln/>
        </p:spPr>
        <p:txBody>
          <a:bodyPr wrap="none" lIns="0" tIns="0" rIns="0" bIns="0" rtlCol="0" anchor="t"/>
          <a:lstStyle/>
          <a:p>
            <a:pPr marL="0" indent="0" algn="l">
              <a:lnSpc>
                <a:spcPts val="265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 Saves Time</a:t>
            </a:r>
            <a:endParaRPr lang="en-US" sz="2100" dirty="0"/>
          </a:p>
        </p:txBody>
      </p:sp>
      <p:sp>
        <p:nvSpPr>
          <p:cNvPr id="7" name="Text 4"/>
          <p:cNvSpPr/>
          <p:nvPr/>
        </p:nvSpPr>
        <p:spPr>
          <a:xfrm>
            <a:off x="6466761" y="3879771"/>
            <a:ext cx="3264932" cy="675561"/>
          </a:xfrm>
          <a:prstGeom prst="rect">
            <a:avLst/>
          </a:prstGeom>
          <a:noFill/>
          <a:ln/>
        </p:spPr>
        <p:txBody>
          <a:bodyPr wrap="square" lIns="0" tIns="0" rIns="0" bIns="0" rtlCol="0" anchor="t"/>
          <a:lstStyle/>
          <a:p>
            <a:pPr marL="0" indent="0" algn="l">
              <a:lnSpc>
                <a:spcPts val="2650"/>
              </a:lnSpc>
              <a:buNone/>
            </a:pPr>
            <a:r>
              <a:rPr lang="en-US" sz="1700" dirty="0">
                <a:solidFill>
                  <a:srgbClr val="000000"/>
                </a:solidFill>
                <a:latin typeface="Public Sans" pitchFamily="34" charset="0"/>
                <a:ea typeface="Public Sans" pitchFamily="34" charset="-122"/>
                <a:cs typeface="Public Sans" pitchFamily="34" charset="-120"/>
              </a:rPr>
              <a:t>Eliminates hours of manual data entry and follow-up</a:t>
            </a:r>
            <a:endParaRPr lang="en-US" sz="1700" dirty="0"/>
          </a:p>
        </p:txBody>
      </p:sp>
      <p:sp>
        <p:nvSpPr>
          <p:cNvPr id="8" name="Shape 5"/>
          <p:cNvSpPr/>
          <p:nvPr/>
        </p:nvSpPr>
        <p:spPr>
          <a:xfrm>
            <a:off x="10161389" y="3179445"/>
            <a:ext cx="3712369" cy="1599605"/>
          </a:xfrm>
          <a:prstGeom prst="roundRect">
            <a:avLst>
              <a:gd name="adj" fmla="val 5677"/>
            </a:avLst>
          </a:prstGeom>
          <a:solidFill>
            <a:srgbClr val="CCC4EC">
              <a:alpha val="50000"/>
            </a:srgbClr>
          </a:solidFill>
          <a:ln w="7620">
            <a:solidFill>
              <a:srgbClr val="B2AAD2"/>
            </a:solidFill>
            <a:prstDash val="solid"/>
          </a:ln>
          <a:effectLst>
            <a:outerShdw dist="27940" dir="2700000" algn="bl" rotWithShape="0">
              <a:srgbClr val="B2AAD2">
                <a:alpha val="100000"/>
              </a:srgbClr>
            </a:outerShdw>
          </a:effectLst>
        </p:spPr>
      </p:sp>
      <p:sp>
        <p:nvSpPr>
          <p:cNvPr id="9" name="Text 6"/>
          <p:cNvSpPr/>
          <p:nvPr/>
        </p:nvSpPr>
        <p:spPr>
          <a:xfrm>
            <a:off x="10385108" y="3403163"/>
            <a:ext cx="2702362" cy="353020"/>
          </a:xfrm>
          <a:prstGeom prst="rect">
            <a:avLst/>
          </a:prstGeom>
          <a:noFill/>
          <a:ln/>
        </p:spPr>
        <p:txBody>
          <a:bodyPr wrap="none" lIns="0" tIns="0" rIns="0" bIns="0" rtlCol="0" anchor="t"/>
          <a:lstStyle/>
          <a:p>
            <a:pPr marL="0" indent="0" algn="l">
              <a:lnSpc>
                <a:spcPts val="265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 Reduces Errors</a:t>
            </a:r>
            <a:endParaRPr lang="en-US" sz="2100" dirty="0"/>
          </a:p>
        </p:txBody>
      </p:sp>
      <p:sp>
        <p:nvSpPr>
          <p:cNvPr id="10" name="Text 7"/>
          <p:cNvSpPr/>
          <p:nvPr/>
        </p:nvSpPr>
        <p:spPr>
          <a:xfrm>
            <a:off x="10385108" y="3879771"/>
            <a:ext cx="3264932" cy="675561"/>
          </a:xfrm>
          <a:prstGeom prst="rect">
            <a:avLst/>
          </a:prstGeom>
          <a:noFill/>
          <a:ln/>
        </p:spPr>
        <p:txBody>
          <a:bodyPr wrap="square" lIns="0" tIns="0" rIns="0" bIns="0" rtlCol="0" anchor="t"/>
          <a:lstStyle/>
          <a:p>
            <a:pPr marL="0" indent="0" algn="l">
              <a:lnSpc>
                <a:spcPts val="2650"/>
              </a:lnSpc>
              <a:buNone/>
            </a:pPr>
            <a:r>
              <a:rPr lang="en-US" sz="1700" dirty="0">
                <a:solidFill>
                  <a:srgbClr val="000000"/>
                </a:solidFill>
                <a:latin typeface="Public Sans" pitchFamily="34" charset="0"/>
                <a:ea typeface="Public Sans" pitchFamily="34" charset="-122"/>
                <a:cs typeface="Public Sans" pitchFamily="34" charset="-120"/>
              </a:rPr>
              <a:t>Automated logic ensures consistent, accurate processing</a:t>
            </a:r>
            <a:endParaRPr lang="en-US" sz="1700" dirty="0"/>
          </a:p>
        </p:txBody>
      </p:sp>
      <p:sp>
        <p:nvSpPr>
          <p:cNvPr id="11" name="Shape 8"/>
          <p:cNvSpPr/>
          <p:nvPr/>
        </p:nvSpPr>
        <p:spPr>
          <a:xfrm>
            <a:off x="6243042" y="4985028"/>
            <a:ext cx="7630716" cy="1261824"/>
          </a:xfrm>
          <a:prstGeom prst="roundRect">
            <a:avLst>
              <a:gd name="adj" fmla="val 7196"/>
            </a:avLst>
          </a:prstGeom>
          <a:solidFill>
            <a:srgbClr val="B4DAE4">
              <a:alpha val="50000"/>
            </a:srgbClr>
          </a:solidFill>
          <a:ln w="7620">
            <a:solidFill>
              <a:srgbClr val="9AC0CA"/>
            </a:solidFill>
            <a:prstDash val="solid"/>
          </a:ln>
          <a:effectLst>
            <a:outerShdw dist="27940" dir="2700000" algn="bl" rotWithShape="0">
              <a:srgbClr val="9AC0CA">
                <a:alpha val="100000"/>
              </a:srgbClr>
            </a:outerShdw>
          </a:effectLst>
        </p:spPr>
      </p:sp>
      <p:sp>
        <p:nvSpPr>
          <p:cNvPr id="12" name="Text 9"/>
          <p:cNvSpPr/>
          <p:nvPr/>
        </p:nvSpPr>
        <p:spPr>
          <a:xfrm>
            <a:off x="6466761" y="5208746"/>
            <a:ext cx="3334703" cy="353020"/>
          </a:xfrm>
          <a:prstGeom prst="rect">
            <a:avLst/>
          </a:prstGeom>
          <a:noFill/>
          <a:ln/>
        </p:spPr>
        <p:txBody>
          <a:bodyPr wrap="none" lIns="0" tIns="0" rIns="0" bIns="0" rtlCol="0" anchor="t"/>
          <a:lstStyle/>
          <a:p>
            <a:pPr marL="0" indent="0" algn="l">
              <a:lnSpc>
                <a:spcPts val="2650"/>
              </a:lnSpc>
              <a:buNone/>
            </a:pPr>
            <a:r>
              <a:rPr lang="en-US" sz="2100" dirty="0">
                <a:solidFill>
                  <a:srgbClr val="000000"/>
                </a:solidFill>
                <a:latin typeface="Playfair Display Semi Bold" pitchFamily="34" charset="0"/>
                <a:ea typeface="Playfair Display Semi Bold" pitchFamily="34" charset="-122"/>
                <a:cs typeface="Playfair Display Semi Bold" pitchFamily="34" charset="-120"/>
              </a:rPr>
              <a:t>🔍 Improves Transparency</a:t>
            </a:r>
            <a:endParaRPr lang="en-US" sz="2100" dirty="0"/>
          </a:p>
        </p:txBody>
      </p:sp>
      <p:sp>
        <p:nvSpPr>
          <p:cNvPr id="13" name="Text 10"/>
          <p:cNvSpPr/>
          <p:nvPr/>
        </p:nvSpPr>
        <p:spPr>
          <a:xfrm>
            <a:off x="6466761" y="5685353"/>
            <a:ext cx="7183279" cy="337780"/>
          </a:xfrm>
          <a:prstGeom prst="rect">
            <a:avLst/>
          </a:prstGeom>
          <a:noFill/>
          <a:ln/>
        </p:spPr>
        <p:txBody>
          <a:bodyPr wrap="none" lIns="0" tIns="0" rIns="0" bIns="0" rtlCol="0" anchor="t"/>
          <a:lstStyle/>
          <a:p>
            <a:pPr marL="0" indent="0" algn="l">
              <a:lnSpc>
                <a:spcPts val="2650"/>
              </a:lnSpc>
              <a:buNone/>
            </a:pPr>
            <a:r>
              <a:rPr lang="en-US" sz="1700" dirty="0">
                <a:solidFill>
                  <a:srgbClr val="000000"/>
                </a:solidFill>
                <a:latin typeface="Public Sans" pitchFamily="34" charset="0"/>
                <a:ea typeface="Public Sans" pitchFamily="34" charset="-122"/>
                <a:cs typeface="Public Sans" pitchFamily="34" charset="-120"/>
              </a:rPr>
              <a:t>Every expense is tracked, timestamped, and auditable</a:t>
            </a:r>
            <a:endParaRPr lang="en-US" sz="1700" dirty="0"/>
          </a:p>
        </p:txBody>
      </p:sp>
      <p:sp>
        <p:nvSpPr>
          <p:cNvPr id="14" name="Text 11"/>
          <p:cNvSpPr/>
          <p:nvPr/>
        </p:nvSpPr>
        <p:spPr>
          <a:xfrm>
            <a:off x="6567249" y="6710482"/>
            <a:ext cx="7306508" cy="675561"/>
          </a:xfrm>
          <a:prstGeom prst="rect">
            <a:avLst/>
          </a:prstGeom>
          <a:noFill/>
          <a:ln/>
        </p:spPr>
        <p:txBody>
          <a:bodyPr wrap="square" lIns="0" tIns="0" rIns="0" bIns="0" rtlCol="0" anchor="t"/>
          <a:lstStyle/>
          <a:p>
            <a:pPr marL="0" indent="0" algn="l">
              <a:lnSpc>
                <a:spcPts val="2650"/>
              </a:lnSpc>
              <a:buNone/>
            </a:pPr>
            <a:r>
              <a:rPr lang="en-US" sz="2000" b="1" dirty="0">
                <a:solidFill>
                  <a:srgbClr val="6F655D"/>
                </a:solidFill>
                <a:latin typeface="Public Sans" pitchFamily="34" charset="0"/>
                <a:ea typeface="Public Sans" pitchFamily="34" charset="-122"/>
                <a:cs typeface="Public Sans" pitchFamily="34" charset="-120"/>
              </a:rPr>
              <a:t>Smart systems for smart businesses</a:t>
            </a:r>
            <a:r>
              <a:rPr lang="en-US" sz="2000" dirty="0">
                <a:solidFill>
                  <a:srgbClr val="6F655D"/>
                </a:solidFill>
                <a:latin typeface="Public Sans" pitchFamily="34" charset="0"/>
                <a:ea typeface="Public Sans" pitchFamily="34" charset="-122"/>
                <a:cs typeface="Public Sans" pitchFamily="34" charset="-120"/>
              </a:rPr>
              <a:t> — built with n8n, Google Forms, and Google Sheets</a:t>
            </a:r>
            <a:r>
              <a:rPr lang="en-US" sz="1700" dirty="0">
                <a:solidFill>
                  <a:srgbClr val="6F655D"/>
                </a:solidFill>
                <a:latin typeface="Public Sans" pitchFamily="34" charset="0"/>
                <a:ea typeface="Public Sans" pitchFamily="34" charset="-122"/>
                <a:cs typeface="Public Sans" pitchFamily="34" charset="-120"/>
              </a:rPr>
              <a:t>.</a:t>
            </a:r>
            <a:endParaRPr lang="en-US" sz="1700" dirty="0"/>
          </a:p>
        </p:txBody>
      </p:sp>
      <p:sp>
        <p:nvSpPr>
          <p:cNvPr id="15" name="Shape 12"/>
          <p:cNvSpPr/>
          <p:nvPr/>
        </p:nvSpPr>
        <p:spPr>
          <a:xfrm>
            <a:off x="6243042" y="6478667"/>
            <a:ext cx="30480" cy="1139190"/>
          </a:xfrm>
          <a:prstGeom prst="rect">
            <a:avLst/>
          </a:prstGeom>
          <a:solidFill>
            <a:srgbClr val="E1C2C2"/>
          </a:solidFill>
          <a:ln/>
        </p:spPr>
      </p:sp>
      <p:sp>
        <p:nvSpPr>
          <p:cNvPr id="16" name="Rectangle: Rounded Corners 15">
            <a:extLst>
              <a:ext uri="{FF2B5EF4-FFF2-40B4-BE49-F238E27FC236}">
                <a16:creationId xmlns:a16="http://schemas.microsoft.com/office/drawing/2014/main" id="{4EF776DF-C1BF-7F96-98D1-42BADD296064}"/>
              </a:ext>
            </a:extLst>
          </p:cNvPr>
          <p:cNvSpPr/>
          <p:nvPr/>
        </p:nvSpPr>
        <p:spPr>
          <a:xfrm>
            <a:off x="12707815" y="7617857"/>
            <a:ext cx="1922585" cy="529681"/>
          </a:xfrm>
          <a:prstGeom prst="roundRect">
            <a:avLst/>
          </a:prstGeom>
          <a:solidFill>
            <a:srgbClr val="FF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FAF6"/>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TotalTime>
  <Words>1038</Words>
  <Application>Microsoft Office PowerPoint</Application>
  <PresentationFormat>Custom</PresentationFormat>
  <Paragraphs>84</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Public Sans</vt:lpstr>
      <vt:lpstr>Playfair Display Semi Bold</vt:lpstr>
      <vt:lpstr>Arial Rounded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Bhavika</dc:creator>
  <cp:lastModifiedBy>dishu bawa</cp:lastModifiedBy>
  <cp:revision>7</cp:revision>
  <dcterms:created xsi:type="dcterms:W3CDTF">2026-04-28T15:56:18Z</dcterms:created>
  <dcterms:modified xsi:type="dcterms:W3CDTF">2026-04-30T05:35:28Z</dcterms:modified>
</cp:coreProperties>
</file>